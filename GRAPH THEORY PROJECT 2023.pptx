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4" r:id="rId5"/>
    <p:sldId id="257" r:id="rId6"/>
    <p:sldId id="258" r:id="rId7"/>
    <p:sldId id="281" r:id="rId8"/>
    <p:sldId id="259" r:id="rId9"/>
    <p:sldId id="260" r:id="rId10"/>
    <p:sldId id="265" r:id="rId11"/>
    <p:sldId id="266" r:id="rId12"/>
    <p:sldId id="267" r:id="rId13"/>
    <p:sldId id="272" r:id="rId14"/>
    <p:sldId id="273" r:id="rId15"/>
    <p:sldId id="274" r:id="rId16"/>
    <p:sldId id="270" r:id="rId17"/>
    <p:sldId id="282" r:id="rId18"/>
    <p:sldId id="283" r:id="rId19"/>
    <p:sldId id="284" r:id="rId20"/>
    <p:sldId id="285" r:id="rId21"/>
    <p:sldId id="288" r:id="rId22"/>
    <p:sldId id="286" r:id="rId23"/>
    <p:sldId id="287" r:id="rId24"/>
    <p:sldId id="275" r:id="rId25"/>
    <p:sldId id="271" r:id="rId26"/>
    <p:sldId id="279" r:id="rId27"/>
    <p:sldId id="276" r:id="rId28"/>
    <p:sldId id="277" r:id="rId29"/>
    <p:sldId id="290" r:id="rId30"/>
    <p:sldId id="261" r:id="rId31"/>
    <p:sldId id="280"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8082" autoAdjust="0"/>
    <p:restoredTop sz="94660"/>
  </p:normalViewPr>
  <p:slideViewPr>
    <p:cSldViewPr>
      <p:cViewPr>
        <p:scale>
          <a:sx n="70" d="100"/>
          <a:sy n="70" d="100"/>
        </p:scale>
        <p:origin x="-888"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57AABF5-743F-4475-AB70-F38E367D1E52}" type="datetimeFigureOut">
              <a:rPr lang="en-US" smtClean="0"/>
              <a:t>12/1/2023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7C91312-6365-4562-80A5-FAEA1FA73479}" type="slidenum">
              <a:rPr lang="en-US" smtClean="0"/>
              <a:t>‹#›</a:t>
            </a:fld>
            <a:endParaRPr lang="en-US" dirty="0"/>
          </a:p>
        </p:txBody>
      </p:sp>
    </p:spTree>
    <p:extLst>
      <p:ext uri="{BB962C8B-B14F-4D97-AF65-F5344CB8AC3E}">
        <p14:creationId xmlns:p14="http://schemas.microsoft.com/office/powerpoint/2010/main" val="66983822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7AABF5-743F-4475-AB70-F38E367D1E52}" type="datetimeFigureOut">
              <a:rPr lang="en-US" smtClean="0"/>
              <a:t>12/1/2023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7C91312-6365-4562-80A5-FAEA1FA73479}" type="slidenum">
              <a:rPr lang="en-US" smtClean="0"/>
              <a:t>‹#›</a:t>
            </a:fld>
            <a:endParaRPr lang="en-US" dirty="0"/>
          </a:p>
        </p:txBody>
      </p:sp>
    </p:spTree>
    <p:extLst>
      <p:ext uri="{BB962C8B-B14F-4D97-AF65-F5344CB8AC3E}">
        <p14:creationId xmlns:p14="http://schemas.microsoft.com/office/powerpoint/2010/main" val="1922784676"/>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57AABF5-743F-4475-AB70-F38E367D1E52}" type="datetimeFigureOut">
              <a:rPr lang="en-US" smtClean="0"/>
              <a:t>12/1/2023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7C91312-6365-4562-80A5-FAEA1FA73479}" type="slidenum">
              <a:rPr lang="en-US" smtClean="0"/>
              <a:t>‹#›</a:t>
            </a:fld>
            <a:endParaRPr lang="en-US" dirty="0"/>
          </a:p>
        </p:txBody>
      </p:sp>
    </p:spTree>
    <p:extLst>
      <p:ext uri="{BB962C8B-B14F-4D97-AF65-F5344CB8AC3E}">
        <p14:creationId xmlns:p14="http://schemas.microsoft.com/office/powerpoint/2010/main" val="331753981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57AABF5-743F-4475-AB70-F38E367D1E52}" type="datetimeFigureOut">
              <a:rPr lang="en-US" smtClean="0"/>
              <a:t>12/1/2023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7C91312-6365-4562-80A5-FAEA1FA73479}" type="slidenum">
              <a:rPr lang="en-US" smtClean="0"/>
              <a:t>‹#›</a:t>
            </a:fld>
            <a:endParaRPr lang="en-US" dirty="0"/>
          </a:p>
        </p:txBody>
      </p:sp>
    </p:spTree>
    <p:extLst>
      <p:ext uri="{BB962C8B-B14F-4D97-AF65-F5344CB8AC3E}">
        <p14:creationId xmlns:p14="http://schemas.microsoft.com/office/powerpoint/2010/main" val="16332740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57AABF5-743F-4475-AB70-F38E367D1E52}" type="datetimeFigureOut">
              <a:rPr lang="en-US" smtClean="0"/>
              <a:t>12/1/2023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7C91312-6365-4562-80A5-FAEA1FA73479}" type="slidenum">
              <a:rPr lang="en-US" smtClean="0"/>
              <a:t>‹#›</a:t>
            </a:fld>
            <a:endParaRPr lang="en-US" dirty="0"/>
          </a:p>
        </p:txBody>
      </p:sp>
    </p:spTree>
    <p:extLst>
      <p:ext uri="{BB962C8B-B14F-4D97-AF65-F5344CB8AC3E}">
        <p14:creationId xmlns:p14="http://schemas.microsoft.com/office/powerpoint/2010/main" val="8205796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57AABF5-743F-4475-AB70-F38E367D1E52}" type="datetimeFigureOut">
              <a:rPr lang="en-US" smtClean="0"/>
              <a:t>12/1/2023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7C91312-6365-4562-80A5-FAEA1FA73479}" type="slidenum">
              <a:rPr lang="en-US" smtClean="0"/>
              <a:t>‹#›</a:t>
            </a:fld>
            <a:endParaRPr lang="en-US" dirty="0"/>
          </a:p>
        </p:txBody>
      </p:sp>
    </p:spTree>
    <p:extLst>
      <p:ext uri="{BB962C8B-B14F-4D97-AF65-F5344CB8AC3E}">
        <p14:creationId xmlns:p14="http://schemas.microsoft.com/office/powerpoint/2010/main" val="104397913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7AABF5-743F-4475-AB70-F38E367D1E52}" type="datetimeFigureOut">
              <a:rPr lang="en-US" smtClean="0"/>
              <a:t>12/1/2023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7C91312-6365-4562-80A5-FAEA1FA73479}" type="slidenum">
              <a:rPr lang="en-US" smtClean="0"/>
              <a:t>‹#›</a:t>
            </a:fld>
            <a:endParaRPr lang="en-US" dirty="0"/>
          </a:p>
        </p:txBody>
      </p:sp>
    </p:spTree>
    <p:extLst>
      <p:ext uri="{BB962C8B-B14F-4D97-AF65-F5344CB8AC3E}">
        <p14:creationId xmlns:p14="http://schemas.microsoft.com/office/powerpoint/2010/main" val="5580870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7AABF5-743F-4475-AB70-F38E367D1E52}" type="datetimeFigureOut">
              <a:rPr lang="en-US" smtClean="0"/>
              <a:t>12/1/2023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7C91312-6365-4562-80A5-FAEA1FA73479}" type="slidenum">
              <a:rPr lang="en-US" smtClean="0"/>
              <a:t>‹#›</a:t>
            </a:fld>
            <a:endParaRPr lang="en-US" dirty="0"/>
          </a:p>
        </p:txBody>
      </p:sp>
    </p:spTree>
    <p:extLst>
      <p:ext uri="{BB962C8B-B14F-4D97-AF65-F5344CB8AC3E}">
        <p14:creationId xmlns:p14="http://schemas.microsoft.com/office/powerpoint/2010/main" val="265797124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7AABF5-743F-4475-AB70-F38E367D1E52}" type="datetimeFigureOut">
              <a:rPr lang="en-US" smtClean="0"/>
              <a:t>12/1/2023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7C91312-6365-4562-80A5-FAEA1FA73479}" type="slidenum">
              <a:rPr lang="en-US" smtClean="0"/>
              <a:t>‹#›</a:t>
            </a:fld>
            <a:endParaRPr lang="en-US" dirty="0"/>
          </a:p>
        </p:txBody>
      </p:sp>
    </p:spTree>
    <p:extLst>
      <p:ext uri="{BB962C8B-B14F-4D97-AF65-F5344CB8AC3E}">
        <p14:creationId xmlns:p14="http://schemas.microsoft.com/office/powerpoint/2010/main" val="229801905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7AABF5-743F-4475-AB70-F38E367D1E52}" type="datetimeFigureOut">
              <a:rPr lang="en-US" smtClean="0"/>
              <a:t>12/1/2023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7C91312-6365-4562-80A5-FAEA1FA73479}" type="slidenum">
              <a:rPr lang="en-US" smtClean="0"/>
              <a:t>‹#›</a:t>
            </a:fld>
            <a:endParaRPr lang="en-US" dirty="0"/>
          </a:p>
        </p:txBody>
      </p:sp>
    </p:spTree>
    <p:extLst>
      <p:ext uri="{BB962C8B-B14F-4D97-AF65-F5344CB8AC3E}">
        <p14:creationId xmlns:p14="http://schemas.microsoft.com/office/powerpoint/2010/main" val="282740398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7AABF5-743F-4475-AB70-F38E367D1E52}" type="datetimeFigureOut">
              <a:rPr lang="en-US" smtClean="0"/>
              <a:t>12/1/2023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7C91312-6365-4562-80A5-FAEA1FA73479}" type="slidenum">
              <a:rPr lang="en-US" smtClean="0"/>
              <a:t>‹#›</a:t>
            </a:fld>
            <a:endParaRPr lang="en-US" dirty="0"/>
          </a:p>
        </p:txBody>
      </p:sp>
    </p:spTree>
    <p:extLst>
      <p:ext uri="{BB962C8B-B14F-4D97-AF65-F5344CB8AC3E}">
        <p14:creationId xmlns:p14="http://schemas.microsoft.com/office/powerpoint/2010/main" val="70008913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7AABF5-743F-4475-AB70-F38E367D1E52}" type="datetimeFigureOut">
              <a:rPr lang="en-US" smtClean="0"/>
              <a:t>12/1/2023</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C91312-6365-4562-80A5-FAEA1FA73479}" type="slidenum">
              <a:rPr lang="en-US" smtClean="0"/>
              <a:t>‹#›</a:t>
            </a:fld>
            <a:endParaRPr lang="en-US" dirty="0"/>
          </a:p>
        </p:txBody>
      </p:sp>
    </p:spTree>
    <p:extLst>
      <p:ext uri="{BB962C8B-B14F-4D97-AF65-F5344CB8AC3E}">
        <p14:creationId xmlns:p14="http://schemas.microsoft.com/office/powerpoint/2010/main" val="2544676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0"/>
            <a:ext cx="9180512" cy="686090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itle 35"/>
          <p:cNvSpPr>
            <a:spLocks noGrp="1"/>
          </p:cNvSpPr>
          <p:nvPr>
            <p:ph type="ctrTitle"/>
          </p:nvPr>
        </p:nvSpPr>
        <p:spPr>
          <a:xfrm>
            <a:off x="1398284" y="2601246"/>
            <a:ext cx="6516216" cy="2304256"/>
          </a:xfrm>
        </p:spPr>
        <p:txBody>
          <a:bodyPr>
            <a:noAutofit/>
          </a:bodyPr>
          <a:lstStyle/>
          <a:p>
            <a:r>
              <a:rPr lang="en-GB" sz="4800" b="1" dirty="0" smtClean="0">
                <a:solidFill>
                  <a:schemeClr val="accent2">
                    <a:lumMod val="60000"/>
                    <a:lumOff val="40000"/>
                  </a:schemeClr>
                </a:solidFill>
                <a:latin typeface="Javanese Text" pitchFamily="2" charset="0"/>
              </a:rPr>
              <a:t>GRAPH THEORY</a:t>
            </a:r>
            <a:br>
              <a:rPr lang="en-GB" sz="4800" b="1" dirty="0" smtClean="0">
                <a:solidFill>
                  <a:schemeClr val="accent2">
                    <a:lumMod val="60000"/>
                    <a:lumOff val="40000"/>
                  </a:schemeClr>
                </a:solidFill>
                <a:latin typeface="Javanese Text" pitchFamily="2" charset="0"/>
              </a:rPr>
            </a:br>
            <a:r>
              <a:rPr lang="en-GB" sz="4800" b="1" dirty="0" smtClean="0">
                <a:solidFill>
                  <a:schemeClr val="accent2">
                    <a:lumMod val="60000"/>
                    <a:lumOff val="40000"/>
                  </a:schemeClr>
                </a:solidFill>
                <a:latin typeface="Javanese Text" pitchFamily="2" charset="0"/>
              </a:rPr>
              <a:t> </a:t>
            </a:r>
            <a:r>
              <a:rPr lang="en-GB" sz="5400" b="1" dirty="0" smtClean="0">
                <a:solidFill>
                  <a:schemeClr val="accent2">
                    <a:lumMod val="60000"/>
                    <a:lumOff val="40000"/>
                  </a:schemeClr>
                </a:solidFill>
                <a:latin typeface="Javanese Text" pitchFamily="2" charset="0"/>
              </a:rPr>
              <a:t>PROJECT</a:t>
            </a:r>
            <a:r>
              <a:rPr lang="en-GB" sz="4800" b="1" dirty="0" smtClean="0">
                <a:solidFill>
                  <a:schemeClr val="accent2">
                    <a:lumMod val="60000"/>
                    <a:lumOff val="40000"/>
                  </a:schemeClr>
                </a:solidFill>
                <a:latin typeface="Javanese Text" pitchFamily="2" charset="0"/>
              </a:rPr>
              <a:t> 2023</a:t>
            </a:r>
            <a:endParaRPr lang="en-US" sz="4800" b="1" dirty="0">
              <a:solidFill>
                <a:schemeClr val="accent2">
                  <a:lumMod val="60000"/>
                  <a:lumOff val="40000"/>
                </a:schemeClr>
              </a:solidFill>
              <a:latin typeface="Javanese Text" pitchFamily="2" charset="0"/>
            </a:endParaRPr>
          </a:p>
        </p:txBody>
      </p:sp>
      <p:sp>
        <p:nvSpPr>
          <p:cNvPr id="38" name="Oval 37"/>
          <p:cNvSpPr/>
          <p:nvPr/>
        </p:nvSpPr>
        <p:spPr>
          <a:xfrm>
            <a:off x="6516216" y="404664"/>
            <a:ext cx="864096" cy="864096"/>
          </a:xfrm>
          <a:prstGeom prst="ellipse">
            <a:avLst/>
          </a:pr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lowchart: Merge 42"/>
          <p:cNvSpPr/>
          <p:nvPr/>
        </p:nvSpPr>
        <p:spPr>
          <a:xfrm>
            <a:off x="4211960" y="692696"/>
            <a:ext cx="576064" cy="576064"/>
          </a:xfrm>
          <a:prstGeom prst="flowChartMerge">
            <a:avLst/>
          </a:prstGeom>
          <a:solidFill>
            <a:schemeClr val="accent6">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ight Triangle 43"/>
          <p:cNvSpPr/>
          <p:nvPr/>
        </p:nvSpPr>
        <p:spPr>
          <a:xfrm rot="21074795">
            <a:off x="5653990" y="5952948"/>
            <a:ext cx="504056" cy="536127"/>
          </a:xfrm>
          <a:prstGeom prst="rtTriangle">
            <a:avLst/>
          </a:pr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Oval 44"/>
          <p:cNvSpPr/>
          <p:nvPr/>
        </p:nvSpPr>
        <p:spPr>
          <a:xfrm>
            <a:off x="3419872" y="5733256"/>
            <a:ext cx="576064" cy="576064"/>
          </a:xfrm>
          <a:prstGeom prst="ellipse">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p:cNvSpPr/>
          <p:nvPr/>
        </p:nvSpPr>
        <p:spPr>
          <a:xfrm>
            <a:off x="6282190" y="4905502"/>
            <a:ext cx="468052" cy="468052"/>
          </a:xfrm>
          <a:prstGeom prst="ellipse">
            <a:avLst/>
          </a:prstGeom>
          <a:solidFill>
            <a:srgbClr val="00206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p:cNvSpPr/>
          <p:nvPr/>
        </p:nvSpPr>
        <p:spPr>
          <a:xfrm>
            <a:off x="5364088" y="1700808"/>
            <a:ext cx="360040" cy="360040"/>
          </a:xfrm>
          <a:prstGeom prst="ellipse">
            <a:avLst/>
          </a:prstGeom>
          <a:solidFill>
            <a:schemeClr val="accent5">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Isosceles Triangle 47"/>
          <p:cNvSpPr/>
          <p:nvPr/>
        </p:nvSpPr>
        <p:spPr>
          <a:xfrm>
            <a:off x="7812360" y="1628800"/>
            <a:ext cx="501176" cy="432048"/>
          </a:xfrm>
          <a:prstGeom prst="triangle">
            <a:avLst/>
          </a:prstGeom>
          <a:solidFill>
            <a:srgbClr val="92D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Flowchart: Merge 48"/>
          <p:cNvSpPr/>
          <p:nvPr/>
        </p:nvSpPr>
        <p:spPr>
          <a:xfrm>
            <a:off x="4788024" y="4725144"/>
            <a:ext cx="504056" cy="504056"/>
          </a:xfrm>
          <a:prstGeom prst="flowChartMerge">
            <a:avLst/>
          </a:prstGeom>
          <a:solidFill>
            <a:schemeClr val="accent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ight Triangle 51"/>
          <p:cNvSpPr/>
          <p:nvPr/>
        </p:nvSpPr>
        <p:spPr>
          <a:xfrm rot="12008802">
            <a:off x="7759512" y="4222316"/>
            <a:ext cx="430578" cy="432048"/>
          </a:xfrm>
          <a:prstGeom prst="rtTriangle">
            <a:avLst/>
          </a:prstGeom>
          <a:solidFill>
            <a:srgbClr val="92D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p:cNvSpPr/>
          <p:nvPr/>
        </p:nvSpPr>
        <p:spPr>
          <a:xfrm>
            <a:off x="7622436" y="5804227"/>
            <a:ext cx="720080" cy="720080"/>
          </a:xfrm>
          <a:prstGeom prst="ellipse">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lowchart: Merge 18"/>
          <p:cNvSpPr/>
          <p:nvPr/>
        </p:nvSpPr>
        <p:spPr>
          <a:xfrm>
            <a:off x="1259632" y="692696"/>
            <a:ext cx="576064" cy="576064"/>
          </a:xfrm>
          <a:prstGeom prst="flowChartMerge">
            <a:avLst/>
          </a:prstGeom>
          <a:solidFill>
            <a:schemeClr val="accent6">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p:cNvSpPr/>
          <p:nvPr/>
        </p:nvSpPr>
        <p:spPr>
          <a:xfrm>
            <a:off x="2069722" y="5139528"/>
            <a:ext cx="468052" cy="468052"/>
          </a:xfrm>
          <a:prstGeom prst="ellipse">
            <a:avLst/>
          </a:prstGeom>
          <a:solidFill>
            <a:srgbClr val="00206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p:cNvSpPr/>
          <p:nvPr/>
        </p:nvSpPr>
        <p:spPr>
          <a:xfrm>
            <a:off x="2843808" y="1478389"/>
            <a:ext cx="576064" cy="576064"/>
          </a:xfrm>
          <a:prstGeom prst="ellipse">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p:cNvSpPr/>
          <p:nvPr/>
        </p:nvSpPr>
        <p:spPr>
          <a:xfrm>
            <a:off x="1175962" y="2890393"/>
            <a:ext cx="360040" cy="360040"/>
          </a:xfrm>
          <a:prstGeom prst="ellipse">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ight Triangle 22"/>
          <p:cNvSpPr/>
          <p:nvPr/>
        </p:nvSpPr>
        <p:spPr>
          <a:xfrm rot="5111106">
            <a:off x="408621" y="4045035"/>
            <a:ext cx="430578" cy="432048"/>
          </a:xfrm>
          <a:prstGeom prst="rtTriangle">
            <a:avLst/>
          </a:prstGeom>
          <a:solidFill>
            <a:srgbClr val="92D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ight Triangle 23"/>
          <p:cNvSpPr/>
          <p:nvPr/>
        </p:nvSpPr>
        <p:spPr>
          <a:xfrm rot="19145310">
            <a:off x="605215" y="5763697"/>
            <a:ext cx="504056" cy="536127"/>
          </a:xfrm>
          <a:prstGeom prst="rtTriangle">
            <a:avLst/>
          </a:pr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8479665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0" y="0"/>
            <a:ext cx="9203021" cy="686090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itle 35"/>
          <p:cNvSpPr>
            <a:spLocks noGrp="1"/>
          </p:cNvSpPr>
          <p:nvPr>
            <p:ph type="ctrTitle"/>
          </p:nvPr>
        </p:nvSpPr>
        <p:spPr>
          <a:xfrm>
            <a:off x="770058" y="980728"/>
            <a:ext cx="7822395" cy="4752528"/>
          </a:xfrm>
        </p:spPr>
        <p:txBody>
          <a:bodyPr>
            <a:noAutofit/>
          </a:bodyPr>
          <a:lstStyle/>
          <a:p>
            <a:r>
              <a:rPr lang="en-GB" sz="3600" b="1" u="sng" dirty="0" smtClean="0">
                <a:solidFill>
                  <a:schemeClr val="accent2">
                    <a:lumMod val="60000"/>
                    <a:lumOff val="40000"/>
                  </a:schemeClr>
                </a:solidFill>
                <a:latin typeface="Javanese Text" pitchFamily="2" charset="0"/>
              </a:rPr>
              <a:t/>
            </a:r>
            <a:br>
              <a:rPr lang="en-GB" sz="3600" b="1" u="sng" dirty="0" smtClean="0">
                <a:solidFill>
                  <a:schemeClr val="accent2">
                    <a:lumMod val="60000"/>
                    <a:lumOff val="40000"/>
                  </a:schemeClr>
                </a:solidFill>
                <a:latin typeface="Javanese Text" pitchFamily="2" charset="0"/>
              </a:rPr>
            </a:br>
            <a:r>
              <a:rPr lang="en-GB" sz="3200" b="1" u="sng" dirty="0">
                <a:solidFill>
                  <a:schemeClr val="bg2">
                    <a:lumMod val="90000"/>
                  </a:schemeClr>
                </a:solidFill>
                <a:latin typeface="Javanese Text" pitchFamily="2" charset="0"/>
              </a:rPr>
              <a:t>Instructor</a:t>
            </a:r>
            <a:r>
              <a:rPr lang="en-GB" sz="3200" b="1" u="sng" dirty="0" smtClean="0">
                <a:solidFill>
                  <a:schemeClr val="bg2">
                    <a:lumMod val="90000"/>
                  </a:schemeClr>
                </a:solidFill>
                <a:latin typeface="Javanese Text" pitchFamily="2" charset="0"/>
              </a:rPr>
              <a:t>:</a:t>
            </a:r>
            <a:br>
              <a:rPr lang="en-GB" sz="3200" b="1" u="sng" dirty="0" smtClean="0">
                <a:solidFill>
                  <a:schemeClr val="bg2">
                    <a:lumMod val="90000"/>
                  </a:schemeClr>
                </a:solidFill>
                <a:latin typeface="Javanese Text" pitchFamily="2" charset="0"/>
              </a:rPr>
            </a:br>
            <a:r>
              <a:rPr lang="en-GB" sz="3200" b="1" dirty="0" smtClean="0">
                <a:solidFill>
                  <a:schemeClr val="bg2">
                    <a:lumMod val="90000"/>
                  </a:schemeClr>
                </a:solidFill>
                <a:latin typeface="Javanese Text" pitchFamily="2" charset="0"/>
              </a:rPr>
              <a:t>Dr</a:t>
            </a:r>
            <a:r>
              <a:rPr lang="en-GB" sz="3200" b="1" dirty="0">
                <a:solidFill>
                  <a:schemeClr val="bg2">
                    <a:lumMod val="90000"/>
                  </a:schemeClr>
                </a:solidFill>
                <a:latin typeface="Javanese Text" pitchFamily="2" charset="0"/>
              </a:rPr>
              <a:t>. Nazish </a:t>
            </a:r>
            <a:r>
              <a:rPr lang="en-GB" sz="3200" b="1" dirty="0" smtClean="0">
                <a:solidFill>
                  <a:schemeClr val="bg2">
                    <a:lumMod val="90000"/>
                  </a:schemeClr>
                </a:solidFill>
                <a:latin typeface="Javanese Text" pitchFamily="2" charset="0"/>
              </a:rPr>
              <a:t>Kanwal</a:t>
            </a:r>
            <a:br>
              <a:rPr lang="en-GB" sz="3200" b="1" dirty="0" smtClean="0">
                <a:solidFill>
                  <a:schemeClr val="bg2">
                    <a:lumMod val="90000"/>
                  </a:schemeClr>
                </a:solidFill>
                <a:latin typeface="Javanese Text" pitchFamily="2" charset="0"/>
              </a:rPr>
            </a:br>
            <a:r>
              <a:rPr lang="en-GB" sz="3200" b="1" dirty="0">
                <a:solidFill>
                  <a:schemeClr val="bg2">
                    <a:lumMod val="90000"/>
                  </a:schemeClr>
                </a:solidFill>
                <a:latin typeface="Javanese Text" pitchFamily="2" charset="0"/>
              </a:rPr>
              <a:t/>
            </a:r>
            <a:br>
              <a:rPr lang="en-GB" sz="3200" b="1" dirty="0">
                <a:solidFill>
                  <a:schemeClr val="bg2">
                    <a:lumMod val="90000"/>
                  </a:schemeClr>
                </a:solidFill>
                <a:latin typeface="Javanese Text" pitchFamily="2" charset="0"/>
              </a:rPr>
            </a:br>
            <a:r>
              <a:rPr lang="en-GB" sz="3200" b="1" u="sng" dirty="0">
                <a:solidFill>
                  <a:schemeClr val="bg2">
                    <a:lumMod val="90000"/>
                  </a:schemeClr>
                </a:solidFill>
                <a:latin typeface="Javanese Text" pitchFamily="2" charset="0"/>
              </a:rPr>
              <a:t>Project </a:t>
            </a:r>
            <a:r>
              <a:rPr lang="en-GB" sz="3200" b="1" u="sng" dirty="0" smtClean="0">
                <a:solidFill>
                  <a:schemeClr val="bg2">
                    <a:lumMod val="90000"/>
                  </a:schemeClr>
                </a:solidFill>
                <a:latin typeface="Javanese Text" pitchFamily="2" charset="0"/>
              </a:rPr>
              <a:t>Title: </a:t>
            </a:r>
            <a:br>
              <a:rPr lang="en-GB" sz="3200" b="1" u="sng" dirty="0" smtClean="0">
                <a:solidFill>
                  <a:schemeClr val="bg2">
                    <a:lumMod val="90000"/>
                  </a:schemeClr>
                </a:solidFill>
                <a:latin typeface="Javanese Text" pitchFamily="2" charset="0"/>
              </a:rPr>
            </a:br>
            <a:r>
              <a:rPr lang="en-GB" sz="3200" b="1" dirty="0" smtClean="0">
                <a:solidFill>
                  <a:schemeClr val="bg2">
                    <a:lumMod val="90000"/>
                  </a:schemeClr>
                </a:solidFill>
                <a:latin typeface="Javanese Text" pitchFamily="2" charset="0"/>
              </a:rPr>
              <a:t>Bi-Graverse</a:t>
            </a:r>
            <a:br>
              <a:rPr lang="en-GB" sz="3200" b="1" dirty="0" smtClean="0">
                <a:solidFill>
                  <a:schemeClr val="bg2">
                    <a:lumMod val="90000"/>
                  </a:schemeClr>
                </a:solidFill>
                <a:latin typeface="Javanese Text" pitchFamily="2" charset="0"/>
              </a:rPr>
            </a:br>
            <a:r>
              <a:rPr lang="en-GB" sz="3200" b="1" u="sng" dirty="0">
                <a:solidFill>
                  <a:schemeClr val="bg2">
                    <a:lumMod val="90000"/>
                  </a:schemeClr>
                </a:solidFill>
                <a:latin typeface="Javanese Text" pitchFamily="2" charset="0"/>
              </a:rPr>
              <a:t/>
            </a:r>
            <a:br>
              <a:rPr lang="en-GB" sz="3200" b="1" u="sng" dirty="0">
                <a:solidFill>
                  <a:schemeClr val="bg2">
                    <a:lumMod val="90000"/>
                  </a:schemeClr>
                </a:solidFill>
                <a:latin typeface="Javanese Text" pitchFamily="2" charset="0"/>
              </a:rPr>
            </a:br>
            <a:r>
              <a:rPr lang="en-GB" sz="3200" b="1" u="sng" dirty="0" smtClean="0">
                <a:solidFill>
                  <a:schemeClr val="bg2">
                    <a:lumMod val="90000"/>
                  </a:schemeClr>
                </a:solidFill>
                <a:latin typeface="Javanese Text" pitchFamily="2" charset="0"/>
              </a:rPr>
              <a:t>Project Contributors:</a:t>
            </a:r>
            <a:r>
              <a:rPr lang="en-GB" sz="3200" b="1" dirty="0" smtClean="0">
                <a:solidFill>
                  <a:schemeClr val="bg2">
                    <a:lumMod val="90000"/>
                  </a:schemeClr>
                </a:solidFill>
                <a:latin typeface="Javanese Text" pitchFamily="2" charset="0"/>
              </a:rPr>
              <a:t/>
            </a:r>
            <a:br>
              <a:rPr lang="en-GB" sz="3200" b="1" dirty="0" smtClean="0">
                <a:solidFill>
                  <a:schemeClr val="bg2">
                    <a:lumMod val="90000"/>
                  </a:schemeClr>
                </a:solidFill>
                <a:latin typeface="Javanese Text" pitchFamily="2" charset="0"/>
              </a:rPr>
            </a:br>
            <a:r>
              <a:rPr lang="en-GB" sz="3200" b="1" dirty="0" smtClean="0">
                <a:solidFill>
                  <a:schemeClr val="bg2">
                    <a:lumMod val="90000"/>
                  </a:schemeClr>
                </a:solidFill>
                <a:latin typeface="Javanese Text" pitchFamily="2" charset="0"/>
              </a:rPr>
              <a:t>Fizza Rashid 21K-3390</a:t>
            </a:r>
            <a:br>
              <a:rPr lang="en-GB" sz="3200" b="1" dirty="0" smtClean="0">
                <a:solidFill>
                  <a:schemeClr val="bg2">
                    <a:lumMod val="90000"/>
                  </a:schemeClr>
                </a:solidFill>
                <a:latin typeface="Javanese Text" pitchFamily="2" charset="0"/>
              </a:rPr>
            </a:br>
            <a:r>
              <a:rPr lang="en-GB" sz="3200" b="1" dirty="0" smtClean="0">
                <a:solidFill>
                  <a:schemeClr val="bg2">
                    <a:lumMod val="90000"/>
                  </a:schemeClr>
                </a:solidFill>
                <a:latin typeface="Javanese Text" pitchFamily="2" charset="0"/>
              </a:rPr>
              <a:t>Sana Khalid 21K-3421</a:t>
            </a:r>
            <a:endParaRPr lang="en-US" sz="3200" b="1" dirty="0">
              <a:solidFill>
                <a:schemeClr val="bg2">
                  <a:lumMod val="90000"/>
                </a:schemeClr>
              </a:solidFill>
              <a:latin typeface="Javanese Text" pitchFamily="2" charset="0"/>
            </a:endParaRPr>
          </a:p>
        </p:txBody>
      </p:sp>
      <p:sp>
        <p:nvSpPr>
          <p:cNvPr id="38" name="Oval 37"/>
          <p:cNvSpPr/>
          <p:nvPr/>
        </p:nvSpPr>
        <p:spPr>
          <a:xfrm>
            <a:off x="5868144" y="548680"/>
            <a:ext cx="864096" cy="864096"/>
          </a:xfrm>
          <a:prstGeom prst="ellipse">
            <a:avLst/>
          </a:pr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lowchart: Merge 42"/>
          <p:cNvSpPr/>
          <p:nvPr/>
        </p:nvSpPr>
        <p:spPr>
          <a:xfrm>
            <a:off x="2843808" y="404664"/>
            <a:ext cx="576064" cy="576064"/>
          </a:xfrm>
          <a:prstGeom prst="flowChartMerge">
            <a:avLst/>
          </a:prstGeom>
          <a:solidFill>
            <a:schemeClr val="accent6">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ight Triangle 43"/>
          <p:cNvSpPr/>
          <p:nvPr/>
        </p:nvSpPr>
        <p:spPr>
          <a:xfrm rot="21074795">
            <a:off x="4360738" y="5949242"/>
            <a:ext cx="504056" cy="536127"/>
          </a:xfrm>
          <a:prstGeom prst="rtTriangle">
            <a:avLst/>
          </a:pr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Oval 44"/>
          <p:cNvSpPr/>
          <p:nvPr/>
        </p:nvSpPr>
        <p:spPr>
          <a:xfrm>
            <a:off x="917594" y="5458632"/>
            <a:ext cx="576064" cy="576064"/>
          </a:xfrm>
          <a:prstGeom prst="ellipse">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p:cNvSpPr/>
          <p:nvPr/>
        </p:nvSpPr>
        <p:spPr>
          <a:xfrm>
            <a:off x="449542" y="3410998"/>
            <a:ext cx="468052" cy="468052"/>
          </a:xfrm>
          <a:prstGeom prst="ellipse">
            <a:avLst/>
          </a:prstGeom>
          <a:solidFill>
            <a:srgbClr val="00206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p:cNvSpPr/>
          <p:nvPr/>
        </p:nvSpPr>
        <p:spPr>
          <a:xfrm>
            <a:off x="1129442" y="1520788"/>
            <a:ext cx="360040" cy="360040"/>
          </a:xfrm>
          <a:prstGeom prst="ellipse">
            <a:avLst/>
          </a:prstGeom>
          <a:solidFill>
            <a:schemeClr val="accent5">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Isosceles Triangle 47"/>
          <p:cNvSpPr/>
          <p:nvPr/>
        </p:nvSpPr>
        <p:spPr>
          <a:xfrm>
            <a:off x="7976345" y="1869794"/>
            <a:ext cx="501176" cy="432048"/>
          </a:xfrm>
          <a:prstGeom prst="triangle">
            <a:avLst/>
          </a:prstGeom>
          <a:solidFill>
            <a:srgbClr val="92D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Flowchart: Merge 48"/>
          <p:cNvSpPr/>
          <p:nvPr/>
        </p:nvSpPr>
        <p:spPr>
          <a:xfrm rot="19303316">
            <a:off x="1871700" y="3078042"/>
            <a:ext cx="504056" cy="504056"/>
          </a:xfrm>
          <a:prstGeom prst="flowChartMerge">
            <a:avLst/>
          </a:prstGeom>
          <a:solidFill>
            <a:schemeClr val="accent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ight Triangle 51"/>
          <p:cNvSpPr/>
          <p:nvPr/>
        </p:nvSpPr>
        <p:spPr>
          <a:xfrm rot="12008802">
            <a:off x="7165023" y="3586179"/>
            <a:ext cx="430578" cy="432048"/>
          </a:xfrm>
          <a:prstGeom prst="rtTriangle">
            <a:avLst/>
          </a:prstGeom>
          <a:solidFill>
            <a:srgbClr val="92D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p:cNvSpPr/>
          <p:nvPr/>
        </p:nvSpPr>
        <p:spPr>
          <a:xfrm>
            <a:off x="7656833" y="5026584"/>
            <a:ext cx="720080" cy="720080"/>
          </a:xfrm>
          <a:prstGeom prst="ellipse">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4643417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0"/>
            <a:ext cx="9180512" cy="686090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lowchart: Merge 42"/>
          <p:cNvSpPr/>
          <p:nvPr/>
        </p:nvSpPr>
        <p:spPr>
          <a:xfrm>
            <a:off x="2339752" y="1017651"/>
            <a:ext cx="576064" cy="576064"/>
          </a:xfrm>
          <a:prstGeom prst="flowChartMerge">
            <a:avLst/>
          </a:prstGeom>
          <a:solidFill>
            <a:schemeClr val="accent6">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Flowchart: Merge 48"/>
          <p:cNvSpPr/>
          <p:nvPr/>
        </p:nvSpPr>
        <p:spPr>
          <a:xfrm>
            <a:off x="1259632" y="5463383"/>
            <a:ext cx="504056" cy="504056"/>
          </a:xfrm>
          <a:prstGeom prst="flowChartMerge">
            <a:avLst/>
          </a:prstGeom>
          <a:solidFill>
            <a:schemeClr val="accent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p:cNvSpPr/>
          <p:nvPr/>
        </p:nvSpPr>
        <p:spPr>
          <a:xfrm>
            <a:off x="290718" y="3003589"/>
            <a:ext cx="468052" cy="468052"/>
          </a:xfrm>
          <a:prstGeom prst="ellipse">
            <a:avLst/>
          </a:prstGeom>
          <a:solidFill>
            <a:schemeClr val="bg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ight Triangle 51"/>
          <p:cNvSpPr/>
          <p:nvPr/>
        </p:nvSpPr>
        <p:spPr>
          <a:xfrm rot="9502087">
            <a:off x="7264838" y="3860708"/>
            <a:ext cx="430578" cy="439541"/>
          </a:xfrm>
          <a:prstGeom prst="rtTriangle">
            <a:avLst/>
          </a:prstGeom>
          <a:solidFill>
            <a:schemeClr val="accent6">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itle 35"/>
          <p:cNvSpPr>
            <a:spLocks noGrp="1"/>
          </p:cNvSpPr>
          <p:nvPr>
            <p:ph type="ctrTitle"/>
          </p:nvPr>
        </p:nvSpPr>
        <p:spPr>
          <a:xfrm>
            <a:off x="783922" y="1098803"/>
            <a:ext cx="8205717" cy="4663300"/>
          </a:xfrm>
        </p:spPr>
        <p:txBody>
          <a:bodyPr>
            <a:noAutofit/>
          </a:bodyPr>
          <a:lstStyle/>
          <a:p>
            <a:pPr algn="l">
              <a:lnSpc>
                <a:spcPct val="150000"/>
              </a:lnSpc>
            </a:pPr>
            <a:r>
              <a:rPr lang="en-GB" sz="4000" b="1" u="sng" dirty="0" smtClean="0">
                <a:solidFill>
                  <a:schemeClr val="bg1"/>
                </a:solidFill>
                <a:latin typeface="Javanese Text" pitchFamily="2" charset="0"/>
              </a:rPr>
              <a:t>Content:</a:t>
            </a:r>
            <a:r>
              <a:rPr lang="en-GB" sz="2800" b="1" dirty="0" smtClean="0">
                <a:solidFill>
                  <a:schemeClr val="bg1"/>
                </a:solidFill>
                <a:latin typeface="Javanese Text" pitchFamily="2" charset="0"/>
              </a:rPr>
              <a:t/>
            </a:r>
            <a:br>
              <a:rPr lang="en-GB" sz="2800" b="1" dirty="0" smtClean="0">
                <a:solidFill>
                  <a:schemeClr val="bg1"/>
                </a:solidFill>
                <a:latin typeface="Javanese Text" pitchFamily="2" charset="0"/>
              </a:rPr>
            </a:br>
            <a:r>
              <a:rPr lang="en-GB" sz="2800" b="1" dirty="0" smtClean="0">
                <a:solidFill>
                  <a:schemeClr val="bg1"/>
                </a:solidFill>
                <a:latin typeface="Javanese Text" pitchFamily="2" charset="0"/>
              </a:rPr>
              <a:t>1. Introduction</a:t>
            </a:r>
            <a:br>
              <a:rPr lang="en-GB" sz="2800" b="1" dirty="0" smtClean="0">
                <a:solidFill>
                  <a:schemeClr val="bg1"/>
                </a:solidFill>
                <a:latin typeface="Javanese Text" pitchFamily="2" charset="0"/>
              </a:rPr>
            </a:br>
            <a:r>
              <a:rPr lang="en-GB" sz="2800" b="1" dirty="0" smtClean="0">
                <a:solidFill>
                  <a:schemeClr val="bg1"/>
                </a:solidFill>
                <a:latin typeface="Javanese Text" pitchFamily="2" charset="0"/>
              </a:rPr>
              <a:t>2. Overview</a:t>
            </a:r>
            <a:br>
              <a:rPr lang="en-GB" sz="2800" b="1" dirty="0" smtClean="0">
                <a:solidFill>
                  <a:schemeClr val="bg1"/>
                </a:solidFill>
                <a:latin typeface="Javanese Text" pitchFamily="2" charset="0"/>
              </a:rPr>
            </a:br>
            <a:r>
              <a:rPr lang="en-GB" sz="2800" b="1" dirty="0" smtClean="0">
                <a:solidFill>
                  <a:schemeClr val="bg1"/>
                </a:solidFill>
                <a:latin typeface="Javanese Text" pitchFamily="2" charset="0"/>
              </a:rPr>
              <a:t>3. Problem Statement</a:t>
            </a:r>
            <a:br>
              <a:rPr lang="en-GB" sz="2800" b="1" dirty="0" smtClean="0">
                <a:solidFill>
                  <a:schemeClr val="bg1"/>
                </a:solidFill>
                <a:latin typeface="Javanese Text" pitchFamily="2" charset="0"/>
              </a:rPr>
            </a:br>
            <a:r>
              <a:rPr lang="en-GB" sz="2800" b="1" dirty="0" smtClean="0">
                <a:solidFill>
                  <a:schemeClr val="bg1"/>
                </a:solidFill>
                <a:latin typeface="Javanese Text" pitchFamily="2" charset="0"/>
              </a:rPr>
              <a:t>4. Methodology (Implementation and Testing)</a:t>
            </a:r>
            <a:br>
              <a:rPr lang="en-GB" sz="2800" b="1" dirty="0" smtClean="0">
                <a:solidFill>
                  <a:schemeClr val="bg1"/>
                </a:solidFill>
                <a:latin typeface="Javanese Text" pitchFamily="2" charset="0"/>
              </a:rPr>
            </a:br>
            <a:r>
              <a:rPr lang="en-GB" sz="2800" b="1" dirty="0" smtClean="0">
                <a:solidFill>
                  <a:schemeClr val="bg1"/>
                </a:solidFill>
                <a:latin typeface="Javanese Text" pitchFamily="2" charset="0"/>
              </a:rPr>
              <a:t>5. Results</a:t>
            </a:r>
            <a:br>
              <a:rPr lang="en-GB" sz="2800" b="1" dirty="0" smtClean="0">
                <a:solidFill>
                  <a:schemeClr val="bg1"/>
                </a:solidFill>
                <a:latin typeface="Javanese Text" pitchFamily="2" charset="0"/>
              </a:rPr>
            </a:br>
            <a:r>
              <a:rPr lang="en-GB" sz="2800" b="1" dirty="0" smtClean="0">
                <a:solidFill>
                  <a:schemeClr val="bg1"/>
                </a:solidFill>
                <a:latin typeface="Javanese Text" pitchFamily="2" charset="0"/>
              </a:rPr>
              <a:t>6. Conclusion </a:t>
            </a:r>
            <a:r>
              <a:rPr lang="en-GB" sz="2400" b="1" dirty="0" smtClean="0">
                <a:solidFill>
                  <a:schemeClr val="bg1"/>
                </a:solidFill>
                <a:latin typeface="Javanese Text" pitchFamily="2" charset="0"/>
              </a:rPr>
              <a:t> </a:t>
            </a:r>
            <a:endParaRPr lang="en-US" sz="2400" b="1" dirty="0">
              <a:solidFill>
                <a:schemeClr val="bg1"/>
              </a:solidFill>
              <a:latin typeface="Javanese Text" pitchFamily="2" charset="0"/>
            </a:endParaRPr>
          </a:p>
        </p:txBody>
      </p:sp>
      <p:sp>
        <p:nvSpPr>
          <p:cNvPr id="38" name="Oval 37"/>
          <p:cNvSpPr/>
          <p:nvPr/>
        </p:nvSpPr>
        <p:spPr>
          <a:xfrm>
            <a:off x="5181579" y="333575"/>
            <a:ext cx="864096" cy="864096"/>
          </a:xfrm>
          <a:prstGeom prst="ellipse">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ight Triangle 43"/>
          <p:cNvSpPr/>
          <p:nvPr/>
        </p:nvSpPr>
        <p:spPr>
          <a:xfrm rot="21074795">
            <a:off x="5364102" y="5952948"/>
            <a:ext cx="504056" cy="536127"/>
          </a:xfrm>
          <a:prstGeom prst="rtTriangle">
            <a:avLst/>
          </a:pr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Oval 44"/>
          <p:cNvSpPr/>
          <p:nvPr/>
        </p:nvSpPr>
        <p:spPr>
          <a:xfrm>
            <a:off x="3347864" y="5341652"/>
            <a:ext cx="576064" cy="576064"/>
          </a:xfrm>
          <a:prstGeom prst="ellipse">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p:cNvSpPr/>
          <p:nvPr/>
        </p:nvSpPr>
        <p:spPr>
          <a:xfrm>
            <a:off x="6264772" y="2717023"/>
            <a:ext cx="360040" cy="360040"/>
          </a:xfrm>
          <a:prstGeom prst="ellipse">
            <a:avLst/>
          </a:prstGeom>
          <a:solidFill>
            <a:schemeClr val="bg2">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Isosceles Triangle 47"/>
          <p:cNvSpPr/>
          <p:nvPr/>
        </p:nvSpPr>
        <p:spPr>
          <a:xfrm>
            <a:off x="7826526" y="1412776"/>
            <a:ext cx="501176" cy="432048"/>
          </a:xfrm>
          <a:prstGeom prst="triangle">
            <a:avLst/>
          </a:prstGeom>
          <a:solidFill>
            <a:srgbClr val="92D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p:cNvSpPr/>
          <p:nvPr/>
        </p:nvSpPr>
        <p:spPr>
          <a:xfrm>
            <a:off x="7357034" y="5500931"/>
            <a:ext cx="720080" cy="720080"/>
          </a:xfrm>
          <a:prstGeom prst="ellipse">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p:cNvSpPr/>
          <p:nvPr/>
        </p:nvSpPr>
        <p:spPr>
          <a:xfrm>
            <a:off x="877591" y="585603"/>
            <a:ext cx="360040" cy="360040"/>
          </a:xfrm>
          <a:prstGeom prst="ellipse">
            <a:avLst/>
          </a:prstGeom>
          <a:solidFill>
            <a:schemeClr val="accent5">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4643417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0"/>
            <a:ext cx="9180512" cy="686090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2" name="Group 1"/>
          <p:cNvGrpSpPr/>
          <p:nvPr/>
        </p:nvGrpSpPr>
        <p:grpSpPr>
          <a:xfrm>
            <a:off x="-36512" y="-1082"/>
            <a:ext cx="3312368" cy="6881665"/>
            <a:chOff x="-36512" y="-1082"/>
            <a:chExt cx="3816424" cy="6881665"/>
          </a:xfrm>
        </p:grpSpPr>
        <p:sp>
          <p:nvSpPr>
            <p:cNvPr id="37" name="Flowchart: Delay 36"/>
            <p:cNvSpPr/>
            <p:nvPr/>
          </p:nvSpPr>
          <p:spPr>
            <a:xfrm>
              <a:off x="0" y="0"/>
              <a:ext cx="3779912" cy="6858000"/>
            </a:xfrm>
            <a:prstGeom prst="flowChartDelay">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Flowchart: Delay 38"/>
            <p:cNvSpPr/>
            <p:nvPr/>
          </p:nvSpPr>
          <p:spPr>
            <a:xfrm>
              <a:off x="0" y="-1082"/>
              <a:ext cx="3131840" cy="6858000"/>
            </a:xfrm>
            <a:prstGeom prst="flowChartDelay">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lowchart: Delay 39"/>
            <p:cNvSpPr/>
            <p:nvPr/>
          </p:nvSpPr>
          <p:spPr>
            <a:xfrm>
              <a:off x="0" y="22583"/>
              <a:ext cx="2771800" cy="6858000"/>
            </a:xfrm>
            <a:prstGeom prst="flowChartDelay">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lowchart: Delay 40"/>
            <p:cNvSpPr/>
            <p:nvPr/>
          </p:nvSpPr>
          <p:spPr>
            <a:xfrm>
              <a:off x="0" y="0"/>
              <a:ext cx="2213992" cy="6858000"/>
            </a:xfrm>
            <a:prstGeom prst="flowChartDelay">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lowchart: Delay 41"/>
            <p:cNvSpPr/>
            <p:nvPr/>
          </p:nvSpPr>
          <p:spPr>
            <a:xfrm>
              <a:off x="-36512" y="2907"/>
              <a:ext cx="1674440" cy="6858000"/>
            </a:xfrm>
            <a:prstGeom prst="flowChartDelay">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6" name="Title 35"/>
          <p:cNvSpPr>
            <a:spLocks noGrp="1"/>
          </p:cNvSpPr>
          <p:nvPr>
            <p:ph type="ctrTitle"/>
          </p:nvPr>
        </p:nvSpPr>
        <p:spPr>
          <a:xfrm>
            <a:off x="3226069" y="548680"/>
            <a:ext cx="5562364" cy="792088"/>
          </a:xfrm>
        </p:spPr>
        <p:txBody>
          <a:bodyPr>
            <a:noAutofit/>
          </a:bodyPr>
          <a:lstStyle/>
          <a:p>
            <a:pPr algn="l"/>
            <a:r>
              <a:rPr lang="en-GB" sz="3200" b="1" u="sng" dirty="0" smtClean="0">
                <a:solidFill>
                  <a:schemeClr val="accent1">
                    <a:lumMod val="20000"/>
                    <a:lumOff val="80000"/>
                  </a:schemeClr>
                </a:solidFill>
                <a:latin typeface="Javanese Text" pitchFamily="2" charset="0"/>
              </a:rPr>
              <a:t>1. Introduction:</a:t>
            </a:r>
            <a:endParaRPr lang="en-US" sz="3200" b="1" u="sng" dirty="0">
              <a:solidFill>
                <a:schemeClr val="accent1">
                  <a:lumMod val="20000"/>
                  <a:lumOff val="80000"/>
                </a:schemeClr>
              </a:solidFill>
              <a:latin typeface="Javanese Text" pitchFamily="2" charset="0"/>
            </a:endParaRPr>
          </a:p>
        </p:txBody>
      </p:sp>
      <p:sp>
        <p:nvSpPr>
          <p:cNvPr id="3" name="TextBox 2"/>
          <p:cNvSpPr txBox="1"/>
          <p:nvPr/>
        </p:nvSpPr>
        <p:spPr>
          <a:xfrm>
            <a:off x="3275856" y="1556792"/>
            <a:ext cx="5688631" cy="4431983"/>
          </a:xfrm>
          <a:prstGeom prst="rect">
            <a:avLst/>
          </a:prstGeom>
          <a:noFill/>
        </p:spPr>
        <p:txBody>
          <a:bodyPr wrap="square" rtlCol="0">
            <a:spAutoFit/>
          </a:bodyPr>
          <a:lstStyle/>
          <a:p>
            <a:r>
              <a:rPr lang="en-GB" sz="2400" dirty="0">
                <a:solidFill>
                  <a:schemeClr val="bg1"/>
                </a:solidFill>
                <a:latin typeface="Javanese Text" pitchFamily="2" charset="0"/>
                <a:ea typeface="+mj-ea"/>
                <a:cs typeface="+mj-cs"/>
              </a:rPr>
              <a:t>A </a:t>
            </a:r>
            <a:r>
              <a:rPr lang="en-GB" sz="2400" dirty="0">
                <a:solidFill>
                  <a:srgbClr val="FFFF00"/>
                </a:solidFill>
                <a:latin typeface="Javanese Text" pitchFamily="2" charset="0"/>
                <a:ea typeface="+mj-ea"/>
                <a:cs typeface="+mj-cs"/>
              </a:rPr>
              <a:t>bipartite graph</a:t>
            </a:r>
            <a:r>
              <a:rPr lang="en-GB" sz="2400" dirty="0">
                <a:solidFill>
                  <a:schemeClr val="bg1"/>
                </a:solidFill>
                <a:latin typeface="Javanese Text" pitchFamily="2" charset="0"/>
                <a:ea typeface="+mj-ea"/>
                <a:cs typeface="+mj-cs"/>
              </a:rPr>
              <a:t> is a type of graph whose vertices can be divided into two disjoint sets such that every edge connects a vertex in one set to a vertex in the other set.</a:t>
            </a:r>
          </a:p>
          <a:p>
            <a:endParaRPr lang="en-GB" sz="2400" dirty="0">
              <a:solidFill>
                <a:schemeClr val="bg1"/>
              </a:solidFill>
              <a:latin typeface="Javanese Text" pitchFamily="2" charset="0"/>
              <a:ea typeface="+mj-ea"/>
              <a:cs typeface="+mj-cs"/>
            </a:endParaRPr>
          </a:p>
          <a:p>
            <a:r>
              <a:rPr lang="en-GB" sz="2400" dirty="0">
                <a:solidFill>
                  <a:schemeClr val="bg1"/>
                </a:solidFill>
                <a:latin typeface="Javanese Text" pitchFamily="2" charset="0"/>
                <a:ea typeface="+mj-ea"/>
                <a:cs typeface="+mj-cs"/>
              </a:rPr>
              <a:t>The flexibility and applicability of </a:t>
            </a:r>
            <a:r>
              <a:rPr lang="en-GB" sz="2400" dirty="0">
                <a:solidFill>
                  <a:srgbClr val="FFFF00"/>
                </a:solidFill>
                <a:latin typeface="Javanese Text" pitchFamily="2" charset="0"/>
                <a:ea typeface="+mj-ea"/>
                <a:cs typeface="+mj-cs"/>
              </a:rPr>
              <a:t>bipartite graphs </a:t>
            </a:r>
            <a:r>
              <a:rPr lang="en-GB" sz="2400" dirty="0">
                <a:solidFill>
                  <a:schemeClr val="bg1"/>
                </a:solidFill>
                <a:latin typeface="Javanese Text" pitchFamily="2" charset="0"/>
                <a:ea typeface="+mj-ea"/>
                <a:cs typeface="+mj-cs"/>
              </a:rPr>
              <a:t>make them a valuable tool in various domains, allowing for the modelling and analysis of diverse problems.</a:t>
            </a:r>
            <a:endParaRPr lang="en-US" sz="2400" dirty="0">
              <a:solidFill>
                <a:schemeClr val="bg1"/>
              </a:solidFill>
              <a:latin typeface="Javanese Text" pitchFamily="2" charset="0"/>
              <a:ea typeface="+mj-ea"/>
              <a:cs typeface="+mj-cs"/>
            </a:endParaRPr>
          </a:p>
          <a:p>
            <a:endParaRPr lang="en-US" dirty="0"/>
          </a:p>
        </p:txBody>
      </p:sp>
    </p:spTree>
    <p:extLst>
      <p:ext uri="{BB962C8B-B14F-4D97-AF65-F5344CB8AC3E}">
        <p14:creationId xmlns:p14="http://schemas.microsoft.com/office/powerpoint/2010/main" val="53522634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Flowchart: Delay 38"/>
          <p:cNvSpPr/>
          <p:nvPr/>
        </p:nvSpPr>
        <p:spPr>
          <a:xfrm>
            <a:off x="0" y="-1083"/>
            <a:ext cx="3131840" cy="6886467"/>
          </a:xfrm>
          <a:prstGeom prst="flowChartDelay">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lowchart: Delay 39"/>
          <p:cNvSpPr/>
          <p:nvPr/>
        </p:nvSpPr>
        <p:spPr>
          <a:xfrm>
            <a:off x="0" y="22583"/>
            <a:ext cx="2771800" cy="6858000"/>
          </a:xfrm>
          <a:prstGeom prst="flowChartDelay">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lowchart: Delay 40"/>
          <p:cNvSpPr/>
          <p:nvPr/>
        </p:nvSpPr>
        <p:spPr>
          <a:xfrm>
            <a:off x="0" y="0"/>
            <a:ext cx="2213992" cy="6858000"/>
          </a:xfrm>
          <a:prstGeom prst="flowChartDelay">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lowchart: Delay 41"/>
          <p:cNvSpPr/>
          <p:nvPr/>
        </p:nvSpPr>
        <p:spPr>
          <a:xfrm>
            <a:off x="-36512" y="2907"/>
            <a:ext cx="1674440" cy="6858000"/>
          </a:xfrm>
          <a:prstGeom prst="flowChartDelay">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3419872" y="539968"/>
            <a:ext cx="3384376" cy="584775"/>
          </a:xfrm>
          <a:prstGeom prst="rect">
            <a:avLst/>
          </a:prstGeom>
        </p:spPr>
        <p:txBody>
          <a:bodyPr wrap="square">
            <a:spAutoFit/>
          </a:bodyPr>
          <a:lstStyle/>
          <a:p>
            <a:r>
              <a:rPr lang="en-GB" sz="3200" b="1" u="sng" dirty="0">
                <a:solidFill>
                  <a:schemeClr val="accent1">
                    <a:lumMod val="20000"/>
                    <a:lumOff val="80000"/>
                  </a:schemeClr>
                </a:solidFill>
                <a:latin typeface="Javanese Text" pitchFamily="2" charset="0"/>
                <a:ea typeface="+mj-ea"/>
                <a:cs typeface="+mj-cs"/>
              </a:rPr>
              <a:t>2. Overview: </a:t>
            </a:r>
            <a:endParaRPr lang="en-US" sz="3200" b="1" u="sng" dirty="0">
              <a:solidFill>
                <a:schemeClr val="accent1">
                  <a:lumMod val="20000"/>
                  <a:lumOff val="80000"/>
                </a:schemeClr>
              </a:solidFill>
              <a:latin typeface="Javanese Text" pitchFamily="2" charset="0"/>
              <a:ea typeface="+mj-ea"/>
              <a:cs typeface="+mj-cs"/>
            </a:endParaRPr>
          </a:p>
        </p:txBody>
      </p:sp>
      <p:sp>
        <p:nvSpPr>
          <p:cNvPr id="3" name="TextBox 2"/>
          <p:cNvSpPr txBox="1"/>
          <p:nvPr/>
        </p:nvSpPr>
        <p:spPr>
          <a:xfrm>
            <a:off x="3131840" y="1340768"/>
            <a:ext cx="6120680" cy="5262979"/>
          </a:xfrm>
          <a:prstGeom prst="rect">
            <a:avLst/>
          </a:prstGeom>
          <a:noFill/>
        </p:spPr>
        <p:txBody>
          <a:bodyPr wrap="square" rtlCol="0">
            <a:spAutoFit/>
          </a:bodyPr>
          <a:lstStyle/>
          <a:p>
            <a:r>
              <a:rPr lang="en-GB" sz="2400" dirty="0">
                <a:solidFill>
                  <a:srgbClr val="FFFF00"/>
                </a:solidFill>
                <a:latin typeface="Javanese Text" pitchFamily="2" charset="0"/>
                <a:ea typeface="+mj-ea"/>
                <a:cs typeface="+mj-cs"/>
              </a:rPr>
              <a:t>Maximum flow algorithms</a:t>
            </a:r>
            <a:r>
              <a:rPr lang="en-GB" sz="2400" dirty="0">
                <a:solidFill>
                  <a:schemeClr val="bg1"/>
                </a:solidFill>
                <a:latin typeface="Javanese Text" pitchFamily="2" charset="0"/>
                <a:ea typeface="+mj-ea"/>
                <a:cs typeface="+mj-cs"/>
              </a:rPr>
              <a:t>, such as the </a:t>
            </a:r>
            <a:r>
              <a:rPr lang="en-GB" sz="2400" i="1" dirty="0">
                <a:solidFill>
                  <a:schemeClr val="bg1"/>
                </a:solidFill>
                <a:latin typeface="Javanese Text" pitchFamily="2" charset="0"/>
                <a:ea typeface="+mj-ea"/>
                <a:cs typeface="+mj-cs"/>
              </a:rPr>
              <a:t>Ford-Fulkerson algorithm</a:t>
            </a:r>
            <a:r>
              <a:rPr lang="en-GB" sz="2400" dirty="0">
                <a:solidFill>
                  <a:schemeClr val="bg1"/>
                </a:solidFill>
                <a:latin typeface="Javanese Text" pitchFamily="2" charset="0"/>
                <a:ea typeface="+mj-ea"/>
                <a:cs typeface="+mj-cs"/>
              </a:rPr>
              <a:t>, can be applied to bipartite graphs to find the maximum flow between two specific vertices, typically representing </a:t>
            </a:r>
            <a:r>
              <a:rPr lang="en-GB" sz="2400" i="1" dirty="0">
                <a:solidFill>
                  <a:schemeClr val="bg1"/>
                </a:solidFill>
                <a:latin typeface="Javanese Text" pitchFamily="2" charset="0"/>
                <a:ea typeface="+mj-ea"/>
                <a:cs typeface="+mj-cs"/>
              </a:rPr>
              <a:t>a source </a:t>
            </a:r>
            <a:r>
              <a:rPr lang="en-GB" sz="2400" dirty="0">
                <a:solidFill>
                  <a:schemeClr val="bg1"/>
                </a:solidFill>
                <a:latin typeface="Javanese Text" pitchFamily="2" charset="0"/>
                <a:ea typeface="+mj-ea"/>
                <a:cs typeface="+mj-cs"/>
              </a:rPr>
              <a:t>and</a:t>
            </a:r>
            <a:r>
              <a:rPr lang="en-GB" sz="2400" i="1" dirty="0">
                <a:solidFill>
                  <a:schemeClr val="bg1"/>
                </a:solidFill>
                <a:latin typeface="Javanese Text" pitchFamily="2" charset="0"/>
                <a:ea typeface="+mj-ea"/>
                <a:cs typeface="+mj-cs"/>
              </a:rPr>
              <a:t> a sink</a:t>
            </a:r>
            <a:r>
              <a:rPr lang="en-GB" sz="2400" dirty="0" smtClean="0">
                <a:solidFill>
                  <a:schemeClr val="bg1"/>
                </a:solidFill>
                <a:latin typeface="Javanese Text" pitchFamily="2" charset="0"/>
                <a:ea typeface="+mj-ea"/>
                <a:cs typeface="+mj-cs"/>
              </a:rPr>
              <a:t>.</a:t>
            </a:r>
          </a:p>
          <a:p>
            <a:endParaRPr lang="en-GB" sz="2400" dirty="0">
              <a:solidFill>
                <a:schemeClr val="bg1"/>
              </a:solidFill>
              <a:latin typeface="Javanese Text" pitchFamily="2" charset="0"/>
              <a:ea typeface="+mj-ea"/>
              <a:cs typeface="+mj-cs"/>
            </a:endParaRPr>
          </a:p>
          <a:p>
            <a:r>
              <a:rPr lang="en-GB" sz="2400" dirty="0">
                <a:solidFill>
                  <a:schemeClr val="bg1"/>
                </a:solidFill>
                <a:latin typeface="Javanese Text" pitchFamily="2" charset="0"/>
                <a:ea typeface="+mj-ea"/>
                <a:cs typeface="+mj-cs"/>
              </a:rPr>
              <a:t>A </a:t>
            </a:r>
            <a:r>
              <a:rPr lang="en-GB" sz="2400" dirty="0">
                <a:solidFill>
                  <a:srgbClr val="FFFF00"/>
                </a:solidFill>
                <a:latin typeface="Javanese Text" pitchFamily="2" charset="0"/>
                <a:ea typeface="+mj-ea"/>
                <a:cs typeface="+mj-cs"/>
              </a:rPr>
              <a:t>matching</a:t>
            </a:r>
            <a:r>
              <a:rPr lang="en-GB" sz="2400" dirty="0">
                <a:solidFill>
                  <a:schemeClr val="bg1"/>
                </a:solidFill>
                <a:latin typeface="Javanese Text" pitchFamily="2" charset="0"/>
                <a:ea typeface="+mj-ea"/>
                <a:cs typeface="+mj-cs"/>
              </a:rPr>
              <a:t> in a graph refers to a set of edges without common vertices. In a bipartite graph, matching problems often involve finding a set of edges that covers all vertices on one side without sharing vertices.</a:t>
            </a:r>
          </a:p>
          <a:p>
            <a:endParaRPr lang="en-GB" sz="2400" dirty="0" smtClean="0">
              <a:solidFill>
                <a:schemeClr val="bg1"/>
              </a:solidFill>
              <a:latin typeface="Javanese Text" pitchFamily="2" charset="0"/>
              <a:ea typeface="+mj-ea"/>
              <a:cs typeface="+mj-cs"/>
            </a:endParaRPr>
          </a:p>
          <a:p>
            <a:r>
              <a:rPr lang="en-GB" sz="2400" dirty="0" smtClean="0">
                <a:solidFill>
                  <a:schemeClr val="bg1"/>
                </a:solidFill>
                <a:latin typeface="Javanese Text" pitchFamily="2" charset="0"/>
                <a:ea typeface="+mj-ea"/>
                <a:cs typeface="+mj-cs"/>
              </a:rPr>
              <a:t>For </a:t>
            </a:r>
            <a:r>
              <a:rPr lang="en-GB" sz="2400" dirty="0">
                <a:solidFill>
                  <a:schemeClr val="bg1"/>
                </a:solidFill>
                <a:latin typeface="Javanese Text" pitchFamily="2" charset="0"/>
                <a:ea typeface="+mj-ea"/>
                <a:cs typeface="+mj-cs"/>
              </a:rPr>
              <a:t>example:  modelling relationships, Marriage problem.</a:t>
            </a:r>
            <a:endParaRPr lang="en-US" sz="2400" dirty="0">
              <a:solidFill>
                <a:schemeClr val="bg1"/>
              </a:solidFill>
              <a:latin typeface="Javanese Text" pitchFamily="2" charset="0"/>
              <a:ea typeface="+mj-ea"/>
              <a:cs typeface="+mj-cs"/>
            </a:endParaRPr>
          </a:p>
        </p:txBody>
      </p:sp>
    </p:spTree>
    <p:extLst>
      <p:ext uri="{BB962C8B-B14F-4D97-AF65-F5344CB8AC3E}">
        <p14:creationId xmlns:p14="http://schemas.microsoft.com/office/powerpoint/2010/main" val="273722192"/>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3347864" y="334397"/>
            <a:ext cx="4709204" cy="646331"/>
          </a:xfrm>
          <a:prstGeom prst="rect">
            <a:avLst/>
          </a:prstGeom>
        </p:spPr>
        <p:txBody>
          <a:bodyPr wrap="square">
            <a:spAutoFit/>
          </a:bodyPr>
          <a:lstStyle/>
          <a:p>
            <a:r>
              <a:rPr lang="en-GB" sz="3600" b="1" u="sng" dirty="0" smtClean="0">
                <a:solidFill>
                  <a:schemeClr val="accent1">
                    <a:lumMod val="20000"/>
                    <a:lumOff val="80000"/>
                  </a:schemeClr>
                </a:solidFill>
                <a:latin typeface="Javanese Text" pitchFamily="2" charset="0"/>
              </a:rPr>
              <a:t>3. Problem Statement</a:t>
            </a:r>
            <a:endParaRPr lang="en-US" sz="3600" b="1" u="sng" dirty="0">
              <a:solidFill>
                <a:schemeClr val="accent1">
                  <a:lumMod val="20000"/>
                  <a:lumOff val="80000"/>
                </a:schemeClr>
              </a:solidFill>
              <a:latin typeface="Javanese Text" pitchFamily="2" charset="0"/>
            </a:endParaRPr>
          </a:p>
        </p:txBody>
      </p:sp>
      <p:sp>
        <p:nvSpPr>
          <p:cNvPr id="5" name="TextBox 4"/>
          <p:cNvSpPr txBox="1"/>
          <p:nvPr/>
        </p:nvSpPr>
        <p:spPr>
          <a:xfrm>
            <a:off x="2411760" y="1037049"/>
            <a:ext cx="6372200" cy="5632311"/>
          </a:xfrm>
          <a:prstGeom prst="rect">
            <a:avLst/>
          </a:prstGeom>
          <a:noFill/>
        </p:spPr>
        <p:txBody>
          <a:bodyPr wrap="square" rtlCol="0">
            <a:spAutoFit/>
          </a:bodyPr>
          <a:lstStyle/>
          <a:p>
            <a:r>
              <a:rPr lang="en-US" sz="2400" dirty="0" smtClean="0">
                <a:solidFill>
                  <a:srgbClr val="C00000"/>
                </a:solidFill>
                <a:latin typeface="Javanese Text" pitchFamily="2" charset="0"/>
                <a:ea typeface="+mj-ea"/>
                <a:cs typeface="+mj-cs"/>
              </a:rPr>
              <a:t>Problem</a:t>
            </a:r>
            <a:r>
              <a:rPr lang="en-US" sz="2400" dirty="0">
                <a:solidFill>
                  <a:srgbClr val="C00000"/>
                </a:solidFill>
                <a:latin typeface="Javanese Text" pitchFamily="2" charset="0"/>
                <a:ea typeface="+mj-ea"/>
                <a:cs typeface="+mj-cs"/>
              </a:rPr>
              <a:t>: Job Assignment</a:t>
            </a:r>
            <a:endParaRPr lang="en-GB" sz="2400" dirty="0">
              <a:solidFill>
                <a:srgbClr val="C00000"/>
              </a:solidFill>
              <a:latin typeface="Javanese Text" pitchFamily="2" charset="0"/>
              <a:ea typeface="+mj-ea"/>
              <a:cs typeface="+mj-cs"/>
            </a:endParaRPr>
          </a:p>
          <a:p>
            <a:r>
              <a:rPr lang="en-GB" sz="2400" dirty="0">
                <a:solidFill>
                  <a:schemeClr val="bg1"/>
                </a:solidFill>
                <a:latin typeface="Javanese Text" pitchFamily="2" charset="0"/>
                <a:ea typeface="+mj-ea"/>
                <a:cs typeface="+mj-cs"/>
              </a:rPr>
              <a:t>Consider a scenario where there are N job applicants and M job positions available. Each job applicant has a set of skills, and each job position requires a specific set of skills. We want to find the best possible matching of applicants to positions such that each job position is filled, and applicants are assigned to positions based on their skills</a:t>
            </a:r>
            <a:r>
              <a:rPr lang="en-GB" sz="2400" dirty="0" smtClean="0">
                <a:solidFill>
                  <a:schemeClr val="bg1"/>
                </a:solidFill>
                <a:latin typeface="Javanese Text" pitchFamily="2" charset="0"/>
                <a:ea typeface="+mj-ea"/>
                <a:cs typeface="+mj-cs"/>
              </a:rPr>
              <a:t>.</a:t>
            </a:r>
          </a:p>
          <a:p>
            <a:endParaRPr lang="en-GB" sz="2400" dirty="0">
              <a:solidFill>
                <a:schemeClr val="bg1"/>
              </a:solidFill>
              <a:latin typeface="Javanese Text" pitchFamily="2" charset="0"/>
              <a:ea typeface="+mj-ea"/>
              <a:cs typeface="+mj-cs"/>
            </a:endParaRPr>
          </a:p>
          <a:p>
            <a:r>
              <a:rPr lang="en-GB" sz="2400" dirty="0" smtClean="0">
                <a:solidFill>
                  <a:srgbClr val="C00000"/>
                </a:solidFill>
                <a:latin typeface="Javanese Text" pitchFamily="2" charset="0"/>
                <a:ea typeface="+mj-ea"/>
                <a:cs typeface="+mj-cs"/>
              </a:rPr>
              <a:t>Solution: Optimised Job Assignment</a:t>
            </a:r>
          </a:p>
          <a:p>
            <a:r>
              <a:rPr lang="en-GB" sz="2400" dirty="0" smtClean="0">
                <a:solidFill>
                  <a:schemeClr val="bg1"/>
                </a:solidFill>
                <a:latin typeface="Javanese Text" pitchFamily="2" charset="0"/>
                <a:ea typeface="+mj-ea"/>
                <a:cs typeface="+mj-cs"/>
              </a:rPr>
              <a:t>The </a:t>
            </a:r>
            <a:r>
              <a:rPr lang="en-GB" sz="2400" dirty="0">
                <a:solidFill>
                  <a:srgbClr val="FFC000"/>
                </a:solidFill>
                <a:latin typeface="Javanese Text" pitchFamily="2" charset="0"/>
              </a:rPr>
              <a:t>Max. Bipartite </a:t>
            </a:r>
            <a:r>
              <a:rPr lang="en-GB" sz="2400" dirty="0" smtClean="0">
                <a:solidFill>
                  <a:srgbClr val="FFC000"/>
                </a:solidFill>
                <a:latin typeface="Javanese Text" pitchFamily="2" charset="0"/>
              </a:rPr>
              <a:t>Matching </a:t>
            </a:r>
            <a:r>
              <a:rPr lang="en-GB" sz="2400" dirty="0" smtClean="0">
                <a:solidFill>
                  <a:schemeClr val="bg1"/>
                </a:solidFill>
                <a:latin typeface="Javanese Text" pitchFamily="2" charset="0"/>
                <a:ea typeface="+mj-ea"/>
                <a:cs typeface="+mj-cs"/>
              </a:rPr>
              <a:t>provides </a:t>
            </a:r>
            <a:r>
              <a:rPr lang="en-GB" sz="2400" dirty="0">
                <a:solidFill>
                  <a:schemeClr val="bg1"/>
                </a:solidFill>
                <a:latin typeface="Javanese Text" pitchFamily="2" charset="0"/>
                <a:ea typeface="+mj-ea"/>
                <a:cs typeface="+mj-cs"/>
              </a:rPr>
              <a:t>an optimal assignment of job applicants to positions, ensuring that each position is filled with a suitable candidate.</a:t>
            </a:r>
            <a:endParaRPr lang="en-US" sz="2400" dirty="0">
              <a:solidFill>
                <a:schemeClr val="bg1"/>
              </a:solidFill>
              <a:latin typeface="Javanese Text" pitchFamily="2" charset="0"/>
              <a:ea typeface="+mj-ea"/>
              <a:cs typeface="+mj-cs"/>
            </a:endParaRPr>
          </a:p>
        </p:txBody>
      </p:sp>
      <p:grpSp>
        <p:nvGrpSpPr>
          <p:cNvPr id="8" name="Group 7"/>
          <p:cNvGrpSpPr/>
          <p:nvPr/>
        </p:nvGrpSpPr>
        <p:grpSpPr>
          <a:xfrm>
            <a:off x="-36512" y="4801"/>
            <a:ext cx="2361431" cy="6880583"/>
            <a:chOff x="-93687" y="0"/>
            <a:chExt cx="2361431" cy="6880583"/>
          </a:xfrm>
        </p:grpSpPr>
        <p:sp>
          <p:nvSpPr>
            <p:cNvPr id="9" name="Flowchart: Delay 8"/>
            <p:cNvSpPr/>
            <p:nvPr/>
          </p:nvSpPr>
          <p:spPr>
            <a:xfrm>
              <a:off x="0" y="22583"/>
              <a:ext cx="2267744" cy="6858000"/>
            </a:xfrm>
            <a:prstGeom prst="flowChartDelay">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lowchart: Delay 9"/>
            <p:cNvSpPr/>
            <p:nvPr/>
          </p:nvSpPr>
          <p:spPr>
            <a:xfrm>
              <a:off x="0" y="0"/>
              <a:ext cx="1691680" cy="6858000"/>
            </a:xfrm>
            <a:prstGeom prst="flowChartDelay">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lowchart: Delay 10"/>
            <p:cNvSpPr/>
            <p:nvPr/>
          </p:nvSpPr>
          <p:spPr>
            <a:xfrm>
              <a:off x="-93687" y="2907"/>
              <a:ext cx="1257859" cy="6858000"/>
            </a:xfrm>
            <a:prstGeom prst="flowChartDelay">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638420994"/>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 name="Group 1"/>
          <p:cNvGrpSpPr/>
          <p:nvPr/>
        </p:nvGrpSpPr>
        <p:grpSpPr>
          <a:xfrm>
            <a:off x="-93687" y="0"/>
            <a:ext cx="2361431" cy="6880583"/>
            <a:chOff x="-93687" y="0"/>
            <a:chExt cx="2361431" cy="6880583"/>
          </a:xfrm>
        </p:grpSpPr>
        <p:sp>
          <p:nvSpPr>
            <p:cNvPr id="40" name="Flowchart: Delay 39"/>
            <p:cNvSpPr/>
            <p:nvPr/>
          </p:nvSpPr>
          <p:spPr>
            <a:xfrm>
              <a:off x="0" y="22583"/>
              <a:ext cx="2267744" cy="6858000"/>
            </a:xfrm>
            <a:prstGeom prst="flowChartDelay">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lowchart: Delay 40"/>
            <p:cNvSpPr/>
            <p:nvPr/>
          </p:nvSpPr>
          <p:spPr>
            <a:xfrm>
              <a:off x="0" y="0"/>
              <a:ext cx="1691680" cy="6858000"/>
            </a:xfrm>
            <a:prstGeom prst="flowChartDelay">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lowchart: Delay 41"/>
            <p:cNvSpPr/>
            <p:nvPr/>
          </p:nvSpPr>
          <p:spPr>
            <a:xfrm>
              <a:off x="-93687" y="2907"/>
              <a:ext cx="1257859" cy="6858000"/>
            </a:xfrm>
            <a:prstGeom prst="flowChartDelay">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Rectangle 2"/>
          <p:cNvSpPr/>
          <p:nvPr/>
        </p:nvSpPr>
        <p:spPr>
          <a:xfrm>
            <a:off x="3347864" y="406405"/>
            <a:ext cx="4709204" cy="646331"/>
          </a:xfrm>
          <a:prstGeom prst="rect">
            <a:avLst/>
          </a:prstGeom>
        </p:spPr>
        <p:txBody>
          <a:bodyPr wrap="square">
            <a:spAutoFit/>
          </a:bodyPr>
          <a:lstStyle/>
          <a:p>
            <a:r>
              <a:rPr lang="en-GB" sz="3600" b="1" u="sng" dirty="0" smtClean="0">
                <a:solidFill>
                  <a:schemeClr val="accent1">
                    <a:lumMod val="20000"/>
                    <a:lumOff val="80000"/>
                  </a:schemeClr>
                </a:solidFill>
                <a:latin typeface="Javanese Text" pitchFamily="2" charset="0"/>
              </a:rPr>
              <a:t>3. Problem Statement </a:t>
            </a:r>
            <a:endParaRPr lang="en-US" sz="3600" b="1" u="sng" dirty="0">
              <a:solidFill>
                <a:schemeClr val="accent1">
                  <a:lumMod val="20000"/>
                  <a:lumOff val="80000"/>
                </a:schemeClr>
              </a:solidFill>
              <a:latin typeface="Javanese Text" pitchFamily="2" charset="0"/>
            </a:endParaRPr>
          </a:p>
        </p:txBody>
      </p:sp>
      <p:sp>
        <p:nvSpPr>
          <p:cNvPr id="5" name="TextBox 4"/>
          <p:cNvSpPr txBox="1"/>
          <p:nvPr/>
        </p:nvSpPr>
        <p:spPr>
          <a:xfrm>
            <a:off x="2339752" y="1199649"/>
            <a:ext cx="6624736" cy="4893647"/>
          </a:xfrm>
          <a:prstGeom prst="rect">
            <a:avLst/>
          </a:prstGeom>
          <a:noFill/>
        </p:spPr>
        <p:txBody>
          <a:bodyPr wrap="square" rtlCol="0">
            <a:spAutoFit/>
          </a:bodyPr>
          <a:lstStyle/>
          <a:p>
            <a:r>
              <a:rPr lang="en-US" sz="2400" dirty="0">
                <a:solidFill>
                  <a:srgbClr val="C00000"/>
                </a:solidFill>
                <a:latin typeface="Javanese Text" pitchFamily="2" charset="0"/>
              </a:rPr>
              <a:t>Problem: </a:t>
            </a:r>
            <a:r>
              <a:rPr lang="en-US" sz="2400" dirty="0" smtClean="0">
                <a:solidFill>
                  <a:srgbClr val="C00000"/>
                </a:solidFill>
                <a:latin typeface="Javanese Text" pitchFamily="2" charset="0"/>
              </a:rPr>
              <a:t>Transportation Network</a:t>
            </a:r>
            <a:endParaRPr lang="en-GB" sz="2400" dirty="0">
              <a:solidFill>
                <a:srgbClr val="C00000"/>
              </a:solidFill>
              <a:latin typeface="Javanese Text" pitchFamily="2" charset="0"/>
            </a:endParaRPr>
          </a:p>
          <a:p>
            <a:r>
              <a:rPr lang="en-GB" sz="2400" dirty="0">
                <a:solidFill>
                  <a:schemeClr val="bg1"/>
                </a:solidFill>
                <a:latin typeface="Javanese Text" pitchFamily="2" charset="0"/>
              </a:rPr>
              <a:t>Consider a transportation network with multiple sources (e.g., factories) and sinks (e.g., distribution </a:t>
            </a:r>
            <a:r>
              <a:rPr lang="en-GB" sz="2400" dirty="0" smtClean="0">
                <a:solidFill>
                  <a:schemeClr val="bg1"/>
                </a:solidFill>
                <a:latin typeface="Javanese Text" pitchFamily="2" charset="0"/>
              </a:rPr>
              <a:t>centres </a:t>
            </a:r>
            <a:r>
              <a:rPr lang="en-GB" sz="2400" dirty="0">
                <a:solidFill>
                  <a:schemeClr val="bg1"/>
                </a:solidFill>
                <a:latin typeface="Javanese Text" pitchFamily="2" charset="0"/>
              </a:rPr>
              <a:t>or cities). The goal is to optimize the flow of goods from sources to sinks, taking into account the capacities of the edges (roads, pipelines, etc.) connecting them</a:t>
            </a:r>
            <a:r>
              <a:rPr lang="en-GB" sz="2400" dirty="0" smtClean="0">
                <a:solidFill>
                  <a:schemeClr val="bg1"/>
                </a:solidFill>
                <a:latin typeface="Javanese Text" pitchFamily="2" charset="0"/>
              </a:rPr>
              <a:t>.</a:t>
            </a:r>
          </a:p>
          <a:p>
            <a:endParaRPr lang="en-GB" sz="2400" dirty="0">
              <a:solidFill>
                <a:schemeClr val="bg1"/>
              </a:solidFill>
              <a:latin typeface="Javanese Text" pitchFamily="2" charset="0"/>
            </a:endParaRPr>
          </a:p>
          <a:p>
            <a:r>
              <a:rPr lang="en-GB" sz="2400" dirty="0">
                <a:solidFill>
                  <a:srgbClr val="C00000"/>
                </a:solidFill>
                <a:latin typeface="Javanese Text" pitchFamily="2" charset="0"/>
              </a:rPr>
              <a:t>Solution: </a:t>
            </a:r>
            <a:r>
              <a:rPr lang="en-GB" sz="2400" dirty="0" smtClean="0">
                <a:solidFill>
                  <a:srgbClr val="C00000"/>
                </a:solidFill>
                <a:latin typeface="Javanese Text" pitchFamily="2" charset="0"/>
              </a:rPr>
              <a:t>Transportation Network Optimisation</a:t>
            </a:r>
            <a:endParaRPr lang="en-GB" sz="2400" dirty="0">
              <a:solidFill>
                <a:srgbClr val="C00000"/>
              </a:solidFill>
              <a:latin typeface="Javanese Text" pitchFamily="2" charset="0"/>
            </a:endParaRPr>
          </a:p>
          <a:p>
            <a:r>
              <a:rPr lang="en-GB" sz="2400" dirty="0">
                <a:solidFill>
                  <a:schemeClr val="bg1"/>
                </a:solidFill>
                <a:latin typeface="Javanese Text" pitchFamily="2" charset="0"/>
              </a:rPr>
              <a:t>The </a:t>
            </a:r>
            <a:r>
              <a:rPr lang="en-GB" sz="2400" dirty="0">
                <a:solidFill>
                  <a:srgbClr val="FFC000"/>
                </a:solidFill>
                <a:latin typeface="Javanese Text" pitchFamily="2" charset="0"/>
              </a:rPr>
              <a:t>Max. </a:t>
            </a:r>
            <a:r>
              <a:rPr lang="en-GB" sz="2400" dirty="0" smtClean="0">
                <a:solidFill>
                  <a:srgbClr val="FFC000"/>
                </a:solidFill>
                <a:latin typeface="Javanese Text" pitchFamily="2" charset="0"/>
              </a:rPr>
              <a:t>Flow Methods </a:t>
            </a:r>
            <a:r>
              <a:rPr lang="en-GB" sz="2400" dirty="0" smtClean="0">
                <a:solidFill>
                  <a:schemeClr val="bg1"/>
                </a:solidFill>
                <a:latin typeface="Javanese Text" pitchFamily="2" charset="0"/>
              </a:rPr>
              <a:t>provide </a:t>
            </a:r>
            <a:r>
              <a:rPr lang="en-GB" sz="2400" dirty="0">
                <a:solidFill>
                  <a:schemeClr val="bg1"/>
                </a:solidFill>
                <a:latin typeface="Javanese Text" pitchFamily="2" charset="0"/>
              </a:rPr>
              <a:t>an optimal distribution of goods from sources to sinks, ensuring that the transportation network operates at maximum efficiency.</a:t>
            </a:r>
            <a:endParaRPr lang="en-US" sz="2400" dirty="0">
              <a:solidFill>
                <a:schemeClr val="bg1"/>
              </a:solidFill>
              <a:latin typeface="Javanese Text" pitchFamily="2" charset="0"/>
            </a:endParaRPr>
          </a:p>
        </p:txBody>
      </p:sp>
    </p:spTree>
    <p:extLst>
      <p:ext uri="{BB962C8B-B14F-4D97-AF65-F5344CB8AC3E}">
        <p14:creationId xmlns:p14="http://schemas.microsoft.com/office/powerpoint/2010/main" val="3119721915"/>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lowchart: Delay 40"/>
          <p:cNvSpPr/>
          <p:nvPr/>
        </p:nvSpPr>
        <p:spPr>
          <a:xfrm>
            <a:off x="0" y="0"/>
            <a:ext cx="2213992" cy="6858000"/>
          </a:xfrm>
          <a:prstGeom prst="flowChartDelay">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lowchart: Delay 41"/>
          <p:cNvSpPr/>
          <p:nvPr/>
        </p:nvSpPr>
        <p:spPr>
          <a:xfrm>
            <a:off x="-36512" y="2907"/>
            <a:ext cx="1674440" cy="6858000"/>
          </a:xfrm>
          <a:prstGeom prst="flowChartDelay">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2309026" y="1772816"/>
            <a:ext cx="6834974" cy="3416320"/>
          </a:xfrm>
          <a:prstGeom prst="rect">
            <a:avLst/>
          </a:prstGeom>
        </p:spPr>
        <p:txBody>
          <a:bodyPr wrap="square">
            <a:spAutoFit/>
          </a:bodyPr>
          <a:lstStyle/>
          <a:p>
            <a:r>
              <a:rPr lang="en-GB" sz="3600" b="1" u="sng" dirty="0">
                <a:solidFill>
                  <a:schemeClr val="accent1">
                    <a:lumMod val="20000"/>
                    <a:lumOff val="80000"/>
                  </a:schemeClr>
                </a:solidFill>
                <a:latin typeface="Javanese Text" pitchFamily="2" charset="0"/>
              </a:rPr>
              <a:t>3. </a:t>
            </a:r>
            <a:r>
              <a:rPr lang="en-GB" sz="3600" b="1" u="sng" dirty="0" smtClean="0">
                <a:solidFill>
                  <a:schemeClr val="accent1">
                    <a:lumMod val="20000"/>
                    <a:lumOff val="80000"/>
                  </a:schemeClr>
                </a:solidFill>
                <a:latin typeface="Javanese Text" pitchFamily="2" charset="0"/>
              </a:rPr>
              <a:t>Methodology</a:t>
            </a:r>
          </a:p>
          <a:p>
            <a:endParaRPr lang="en-GB" sz="3600" b="1" u="sng" dirty="0">
              <a:solidFill>
                <a:schemeClr val="accent1">
                  <a:lumMod val="20000"/>
                  <a:lumOff val="80000"/>
                </a:schemeClr>
              </a:solidFill>
              <a:latin typeface="Javanese Text" pitchFamily="2" charset="0"/>
            </a:endParaRPr>
          </a:p>
          <a:p>
            <a:pPr marL="342900" indent="-342900">
              <a:buFont typeface="Arial" pitchFamily="34" charset="0"/>
              <a:buChar char="•"/>
            </a:pPr>
            <a:r>
              <a:rPr lang="en-GB" sz="2400" b="1" dirty="0" smtClean="0">
                <a:solidFill>
                  <a:schemeClr val="accent1">
                    <a:lumMod val="20000"/>
                    <a:lumOff val="80000"/>
                  </a:schemeClr>
                </a:solidFill>
                <a:latin typeface="Javanese Text" pitchFamily="2" charset="0"/>
              </a:rPr>
              <a:t>Bipartiteness Check</a:t>
            </a:r>
          </a:p>
          <a:p>
            <a:pPr marL="342900" indent="-342900">
              <a:buFont typeface="Arial" pitchFamily="34" charset="0"/>
              <a:buChar char="•"/>
            </a:pPr>
            <a:r>
              <a:rPr lang="en-GB" sz="2400" b="1" dirty="0" smtClean="0">
                <a:solidFill>
                  <a:schemeClr val="accent1">
                    <a:lumMod val="20000"/>
                    <a:lumOff val="80000"/>
                  </a:schemeClr>
                </a:solidFill>
                <a:latin typeface="Javanese Text" pitchFamily="2" charset="0"/>
              </a:rPr>
              <a:t>Enabling the feature to visualise Maximum Bipartite Matching.</a:t>
            </a:r>
          </a:p>
          <a:p>
            <a:pPr marL="342900" indent="-342900">
              <a:buFont typeface="Arial" pitchFamily="34" charset="0"/>
              <a:buChar char="•"/>
            </a:pPr>
            <a:r>
              <a:rPr lang="en-GB" sz="2400" b="1" dirty="0" smtClean="0">
                <a:solidFill>
                  <a:schemeClr val="accent1">
                    <a:lumMod val="20000"/>
                    <a:lumOff val="80000"/>
                  </a:schemeClr>
                </a:solidFill>
                <a:latin typeface="Javanese Text" pitchFamily="2" charset="0"/>
              </a:rPr>
              <a:t>Calculate Maximised Flow of any  weighted graph using Edmond-Karp Algorithm(Python)</a:t>
            </a:r>
          </a:p>
          <a:p>
            <a:pPr marL="342900" indent="-342900">
              <a:buFont typeface="Arial" pitchFamily="34" charset="0"/>
              <a:buChar char="•"/>
            </a:pPr>
            <a:r>
              <a:rPr lang="en-GB" sz="2400" b="1" dirty="0" smtClean="0">
                <a:solidFill>
                  <a:schemeClr val="accent1">
                    <a:lumMod val="20000"/>
                    <a:lumOff val="80000"/>
                  </a:schemeClr>
                </a:solidFill>
                <a:latin typeface="Javanese Text" pitchFamily="2" charset="0"/>
              </a:rPr>
              <a:t>&amp; Ford-Fulkerson Algorithm(Java)</a:t>
            </a:r>
            <a:endParaRPr lang="en-US" sz="2400" b="1" dirty="0">
              <a:solidFill>
                <a:schemeClr val="accent1">
                  <a:lumMod val="20000"/>
                  <a:lumOff val="80000"/>
                </a:schemeClr>
              </a:solidFill>
              <a:latin typeface="Javanese Text" pitchFamily="2" charset="0"/>
            </a:endParaRPr>
          </a:p>
        </p:txBody>
      </p:sp>
    </p:spTree>
    <p:extLst>
      <p:ext uri="{BB962C8B-B14F-4D97-AF65-F5344CB8AC3E}">
        <p14:creationId xmlns:p14="http://schemas.microsoft.com/office/powerpoint/2010/main" val="3638420994"/>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lowchart: Delay 41"/>
          <p:cNvSpPr/>
          <p:nvPr/>
        </p:nvSpPr>
        <p:spPr>
          <a:xfrm>
            <a:off x="-36512" y="2907"/>
            <a:ext cx="1512168" cy="6858000"/>
          </a:xfrm>
          <a:prstGeom prst="flowChartDelay">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p:cNvSpPr txBox="1"/>
          <p:nvPr/>
        </p:nvSpPr>
        <p:spPr>
          <a:xfrm>
            <a:off x="1475656" y="980728"/>
            <a:ext cx="7668344" cy="4893647"/>
          </a:xfrm>
          <a:prstGeom prst="rect">
            <a:avLst/>
          </a:prstGeom>
          <a:noFill/>
        </p:spPr>
        <p:txBody>
          <a:bodyPr wrap="square" rtlCol="0">
            <a:spAutoFit/>
          </a:bodyPr>
          <a:lstStyle/>
          <a:p>
            <a:r>
              <a:rPr lang="en-GB" sz="3200" b="1" u="sng" dirty="0" smtClean="0">
                <a:solidFill>
                  <a:schemeClr val="tx1">
                    <a:lumMod val="95000"/>
                    <a:lumOff val="5000"/>
                  </a:schemeClr>
                </a:solidFill>
              </a:rPr>
              <a:t>Functionalities and their Implementation:</a:t>
            </a:r>
          </a:p>
          <a:p>
            <a:r>
              <a:rPr lang="en-GB" sz="2800" b="1" i="1" dirty="0" smtClean="0">
                <a:solidFill>
                  <a:schemeClr val="accent6">
                    <a:lumMod val="75000"/>
                  </a:schemeClr>
                </a:solidFill>
              </a:rPr>
              <a:t>Language used: Python(via Jupyter Notebook)</a:t>
            </a:r>
          </a:p>
          <a:p>
            <a:endParaRPr lang="en-GB" sz="2800" b="1" dirty="0">
              <a:solidFill>
                <a:schemeClr val="accent6">
                  <a:lumMod val="75000"/>
                </a:schemeClr>
              </a:solidFill>
            </a:endParaRPr>
          </a:p>
          <a:p>
            <a:pPr marL="514350" indent="-514350" algn="just">
              <a:buAutoNum type="arabicPeriod"/>
            </a:pPr>
            <a:r>
              <a:rPr lang="en-GB" sz="3200" dirty="0" smtClean="0">
                <a:solidFill>
                  <a:schemeClr val="tx1">
                    <a:lumMod val="95000"/>
                    <a:lumOff val="5000"/>
                  </a:schemeClr>
                </a:solidFill>
              </a:rPr>
              <a:t>Check if Graph is ‘Bipartite’ or not.</a:t>
            </a:r>
          </a:p>
          <a:p>
            <a:pPr marL="514350" indent="-514350" algn="just">
              <a:buAutoNum type="arabicPeriod"/>
            </a:pPr>
            <a:r>
              <a:rPr lang="en-GB" sz="3200" dirty="0" smtClean="0">
                <a:solidFill>
                  <a:schemeClr val="tx1">
                    <a:lumMod val="95000"/>
                    <a:lumOff val="5000"/>
                  </a:schemeClr>
                </a:solidFill>
              </a:rPr>
              <a:t>If ‘Yes’, Enables the feature to visualise maximum bipartite Matching </a:t>
            </a:r>
            <a:r>
              <a:rPr lang="en-GB" sz="3200" dirty="0">
                <a:solidFill>
                  <a:schemeClr val="tx1">
                    <a:lumMod val="95000"/>
                    <a:lumOff val="5000"/>
                  </a:schemeClr>
                </a:solidFill>
              </a:rPr>
              <a:t>efficiently.</a:t>
            </a:r>
            <a:endParaRPr lang="en-GB" sz="3200" dirty="0" smtClean="0">
              <a:solidFill>
                <a:schemeClr val="tx1">
                  <a:lumMod val="95000"/>
                  <a:lumOff val="5000"/>
                </a:schemeClr>
              </a:solidFill>
            </a:endParaRPr>
          </a:p>
          <a:p>
            <a:pPr marL="514350" indent="-514350" algn="just">
              <a:buAutoNum type="arabicPeriod"/>
            </a:pPr>
            <a:r>
              <a:rPr lang="en-GB" sz="3200" dirty="0" smtClean="0">
                <a:solidFill>
                  <a:schemeClr val="tx1">
                    <a:lumMod val="95000"/>
                    <a:lumOff val="5000"/>
                  </a:schemeClr>
                </a:solidFill>
              </a:rPr>
              <a:t>Moreover, It provides visualization of</a:t>
            </a:r>
          </a:p>
          <a:p>
            <a:pPr algn="just"/>
            <a:r>
              <a:rPr lang="en-GB" sz="3200" dirty="0" smtClean="0">
                <a:solidFill>
                  <a:schemeClr val="tx1">
                    <a:lumMod val="95000"/>
                    <a:lumOff val="5000"/>
                  </a:schemeClr>
                </a:solidFill>
              </a:rPr>
              <a:t>      optimised Maximum flow of respected</a:t>
            </a:r>
          </a:p>
          <a:p>
            <a:pPr algn="just"/>
            <a:r>
              <a:rPr lang="en-GB" sz="3200" dirty="0" smtClean="0">
                <a:solidFill>
                  <a:schemeClr val="tx1">
                    <a:lumMod val="95000"/>
                    <a:lumOff val="5000"/>
                  </a:schemeClr>
                </a:solidFill>
              </a:rPr>
              <a:t>      Graph(Any Weighted Graph) using</a:t>
            </a:r>
          </a:p>
          <a:p>
            <a:pPr algn="just"/>
            <a:r>
              <a:rPr lang="en-GB" sz="3200" dirty="0">
                <a:solidFill>
                  <a:schemeClr val="tx1">
                    <a:lumMod val="95000"/>
                    <a:lumOff val="5000"/>
                  </a:schemeClr>
                </a:solidFill>
              </a:rPr>
              <a:t> </a:t>
            </a:r>
            <a:r>
              <a:rPr lang="en-GB" sz="3200" dirty="0" smtClean="0">
                <a:solidFill>
                  <a:schemeClr val="tx1">
                    <a:lumMod val="95000"/>
                    <a:lumOff val="5000"/>
                  </a:schemeClr>
                </a:solidFill>
              </a:rPr>
              <a:t>     matplotlib.</a:t>
            </a:r>
          </a:p>
        </p:txBody>
      </p:sp>
    </p:spTree>
    <p:extLst>
      <p:ext uri="{BB962C8B-B14F-4D97-AF65-F5344CB8AC3E}">
        <p14:creationId xmlns:p14="http://schemas.microsoft.com/office/powerpoint/2010/main" val="367814857"/>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251520" y="116632"/>
            <a:ext cx="8352928" cy="1077218"/>
          </a:xfrm>
          <a:prstGeom prst="rect">
            <a:avLst/>
          </a:prstGeom>
          <a:noFill/>
        </p:spPr>
        <p:txBody>
          <a:bodyPr wrap="square" rtlCol="0">
            <a:spAutoFit/>
          </a:bodyPr>
          <a:lstStyle/>
          <a:p>
            <a:r>
              <a:rPr lang="en-GB" sz="3200" b="1" u="sng" dirty="0" smtClean="0"/>
              <a:t>GUI Implementation Using Python widgets (lib: ipywidgets)</a:t>
            </a:r>
            <a:endParaRPr lang="en-US" sz="3200" b="1" u="sng"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96" y="4030976"/>
            <a:ext cx="8950696" cy="2638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100" y="1264970"/>
            <a:ext cx="7632848" cy="2668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5323077"/>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107504" y="260648"/>
            <a:ext cx="8873327" cy="1569660"/>
          </a:xfrm>
          <a:prstGeom prst="rect">
            <a:avLst/>
          </a:prstGeom>
        </p:spPr>
        <p:txBody>
          <a:bodyPr wrap="none">
            <a:spAutoFit/>
          </a:bodyPr>
          <a:lstStyle/>
          <a:p>
            <a:r>
              <a:rPr lang="en-GB" sz="3200" b="1" u="sng" dirty="0" smtClean="0"/>
              <a:t>Check whether proposed graph is ‘</a:t>
            </a:r>
            <a:r>
              <a:rPr lang="en-GB" sz="3200" b="1" i="1" u="sng" dirty="0" smtClean="0"/>
              <a:t>bipartite’ or not</a:t>
            </a:r>
            <a:r>
              <a:rPr lang="en-GB" sz="3200" b="1" u="sng" dirty="0" smtClean="0"/>
              <a:t>:</a:t>
            </a:r>
          </a:p>
          <a:p>
            <a:r>
              <a:rPr lang="en-GB" sz="3200" i="1" dirty="0" smtClean="0"/>
              <a:t>	-If ‘Yes’, enable rest of the features,</a:t>
            </a:r>
          </a:p>
          <a:p>
            <a:r>
              <a:rPr lang="en-GB" sz="3200" i="1" dirty="0" smtClean="0"/>
              <a:t>	-Otherwise no more functionalities available.</a:t>
            </a:r>
            <a:endParaRPr lang="en-US" sz="3200" i="1" dirty="0"/>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2467210"/>
            <a:ext cx="4347547" cy="3554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Arrow Connector 5"/>
          <p:cNvCxnSpPr/>
          <p:nvPr/>
        </p:nvCxnSpPr>
        <p:spPr>
          <a:xfrm>
            <a:off x="6948264" y="1830308"/>
            <a:ext cx="360040" cy="537623"/>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1259632" y="1268760"/>
            <a:ext cx="7272808" cy="489540"/>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259632" y="764704"/>
            <a:ext cx="5688632" cy="504056"/>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3744" y="2424816"/>
            <a:ext cx="4320480" cy="4100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5436096" y="5517232"/>
            <a:ext cx="2736304" cy="28803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5323077"/>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377" y="1268760"/>
            <a:ext cx="8410733" cy="5008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611560" y="188640"/>
            <a:ext cx="7284108" cy="1384995"/>
          </a:xfrm>
          <a:prstGeom prst="rect">
            <a:avLst/>
          </a:prstGeom>
        </p:spPr>
        <p:txBody>
          <a:bodyPr wrap="square">
            <a:spAutoFit/>
          </a:bodyPr>
          <a:lstStyle/>
          <a:p>
            <a:r>
              <a:rPr lang="en-GB" sz="2800" b="1" u="sng" dirty="0" smtClean="0"/>
              <a:t>Checking random Graphs</a:t>
            </a:r>
          </a:p>
          <a:p>
            <a:pPr algn="ctr"/>
            <a:r>
              <a:rPr lang="en-GB" sz="2800" b="1" dirty="0" smtClean="0">
                <a:solidFill>
                  <a:srgbClr val="C00000"/>
                </a:solidFill>
              </a:rPr>
              <a:t> </a:t>
            </a:r>
            <a:r>
              <a:rPr lang="en-GB" sz="2800" b="1" i="1" dirty="0" smtClean="0">
                <a:solidFill>
                  <a:srgbClr val="C00000"/>
                </a:solidFill>
              </a:rPr>
              <a:t>1. (Output: Not Bipartite)</a:t>
            </a:r>
            <a:endParaRPr lang="en-GB" sz="2800" b="1" i="1" dirty="0">
              <a:solidFill>
                <a:srgbClr val="C00000"/>
              </a:solidFill>
            </a:endParaRPr>
          </a:p>
          <a:p>
            <a:r>
              <a:rPr lang="en-GB" sz="2800" i="1" dirty="0"/>
              <a:t>	</a:t>
            </a:r>
            <a:endParaRPr lang="en-US" sz="2800" dirty="0"/>
          </a:p>
        </p:txBody>
      </p:sp>
      <p:sp>
        <p:nvSpPr>
          <p:cNvPr id="3" name="Rectangle 2"/>
          <p:cNvSpPr/>
          <p:nvPr/>
        </p:nvSpPr>
        <p:spPr>
          <a:xfrm>
            <a:off x="611560" y="5733256"/>
            <a:ext cx="3384376" cy="5438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5323077"/>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1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7293" y="1266816"/>
            <a:ext cx="6408712" cy="360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11560" y="116632"/>
            <a:ext cx="7284108" cy="1384995"/>
          </a:xfrm>
          <a:prstGeom prst="rect">
            <a:avLst/>
          </a:prstGeom>
        </p:spPr>
        <p:txBody>
          <a:bodyPr wrap="square">
            <a:spAutoFit/>
          </a:bodyPr>
          <a:lstStyle/>
          <a:p>
            <a:r>
              <a:rPr lang="en-GB" sz="2800" b="1" u="sng" dirty="0" smtClean="0"/>
              <a:t>Checking random Graphs</a:t>
            </a:r>
          </a:p>
          <a:p>
            <a:pPr algn="ctr"/>
            <a:r>
              <a:rPr lang="en-GB" sz="2800" b="1" dirty="0" smtClean="0">
                <a:solidFill>
                  <a:srgbClr val="C00000"/>
                </a:solidFill>
              </a:rPr>
              <a:t> </a:t>
            </a:r>
            <a:r>
              <a:rPr lang="en-GB" sz="2800" b="1" i="1" dirty="0">
                <a:solidFill>
                  <a:srgbClr val="C00000"/>
                </a:solidFill>
              </a:rPr>
              <a:t>2</a:t>
            </a:r>
            <a:r>
              <a:rPr lang="en-GB" sz="2800" b="1" i="1" dirty="0" smtClean="0">
                <a:solidFill>
                  <a:srgbClr val="C00000"/>
                </a:solidFill>
              </a:rPr>
              <a:t>. (Output: Is Bipartite)</a:t>
            </a:r>
            <a:endParaRPr lang="en-GB" sz="2800" b="1" i="1" dirty="0">
              <a:solidFill>
                <a:srgbClr val="C00000"/>
              </a:solidFill>
            </a:endParaRPr>
          </a:p>
          <a:p>
            <a:r>
              <a:rPr lang="en-GB" sz="2800" i="1" dirty="0"/>
              <a:t>	</a:t>
            </a:r>
            <a:endParaRPr lang="en-US" sz="2800" dirty="0"/>
          </a:p>
        </p:txBody>
      </p:sp>
      <p:sp>
        <p:nvSpPr>
          <p:cNvPr id="2" name="Rectangle 1"/>
          <p:cNvSpPr/>
          <p:nvPr/>
        </p:nvSpPr>
        <p:spPr>
          <a:xfrm>
            <a:off x="1461644" y="4365104"/>
            <a:ext cx="3182364" cy="4320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2829" y="4941168"/>
            <a:ext cx="570547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3232137"/>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p:cNvSpPr/>
          <p:nvPr/>
        </p:nvSpPr>
        <p:spPr>
          <a:xfrm>
            <a:off x="739334" y="260648"/>
            <a:ext cx="7628820" cy="584775"/>
          </a:xfrm>
          <a:prstGeom prst="rect">
            <a:avLst/>
          </a:prstGeom>
        </p:spPr>
        <p:txBody>
          <a:bodyPr wrap="none">
            <a:spAutoFit/>
          </a:bodyPr>
          <a:lstStyle/>
          <a:p>
            <a:r>
              <a:rPr lang="en-GB" sz="3200" b="1" u="sng" dirty="0" smtClean="0"/>
              <a:t>Optimised Maximum Flow Implementation</a:t>
            </a:r>
            <a:endParaRPr lang="en-US" sz="3200" i="1"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513" y="1185863"/>
            <a:ext cx="7800975"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6168854"/>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p:cNvSpPr/>
          <p:nvPr/>
        </p:nvSpPr>
        <p:spPr>
          <a:xfrm>
            <a:off x="758548" y="545669"/>
            <a:ext cx="7628820" cy="584775"/>
          </a:xfrm>
          <a:prstGeom prst="rect">
            <a:avLst/>
          </a:prstGeom>
        </p:spPr>
        <p:txBody>
          <a:bodyPr wrap="none">
            <a:spAutoFit/>
          </a:bodyPr>
          <a:lstStyle/>
          <a:p>
            <a:r>
              <a:rPr lang="en-GB" sz="3200" b="1" u="sng" dirty="0" smtClean="0"/>
              <a:t>Optimised Maximum Flow Implementation</a:t>
            </a:r>
            <a:endParaRPr lang="en-US" sz="3200" i="1"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2512" y="1556792"/>
            <a:ext cx="7140892" cy="4353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6168854"/>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p:cNvSpPr/>
          <p:nvPr/>
        </p:nvSpPr>
        <p:spPr>
          <a:xfrm>
            <a:off x="323528" y="28942"/>
            <a:ext cx="8568952" cy="1815882"/>
          </a:xfrm>
          <a:prstGeom prst="rect">
            <a:avLst/>
          </a:prstGeom>
        </p:spPr>
        <p:txBody>
          <a:bodyPr wrap="square">
            <a:spAutoFit/>
          </a:bodyPr>
          <a:lstStyle/>
          <a:p>
            <a:r>
              <a:rPr lang="en-GB" sz="2800" b="1" u="sng" dirty="0" smtClean="0"/>
              <a:t>Checking random Graphs</a:t>
            </a:r>
          </a:p>
          <a:p>
            <a:pPr algn="ctr"/>
            <a:r>
              <a:rPr lang="en-GB" sz="2800" b="1" dirty="0" smtClean="0">
                <a:solidFill>
                  <a:srgbClr val="C00000"/>
                </a:solidFill>
              </a:rPr>
              <a:t> </a:t>
            </a:r>
            <a:r>
              <a:rPr lang="en-GB" sz="2800" b="1" i="1" dirty="0">
                <a:solidFill>
                  <a:srgbClr val="C00000"/>
                </a:solidFill>
              </a:rPr>
              <a:t>2</a:t>
            </a:r>
            <a:r>
              <a:rPr lang="en-GB" sz="2800" b="1" i="1" dirty="0" smtClean="0">
                <a:solidFill>
                  <a:srgbClr val="C00000"/>
                </a:solidFill>
              </a:rPr>
              <a:t>. (Output: Is Bipartite)</a:t>
            </a:r>
          </a:p>
          <a:p>
            <a:pPr algn="ctr"/>
            <a:r>
              <a:rPr lang="en-GB" sz="2800" b="1" i="1" dirty="0" smtClean="0">
                <a:solidFill>
                  <a:srgbClr val="C00000"/>
                </a:solidFill>
              </a:rPr>
              <a:t>Visualising Maximum Matching of Given Bipartite Graph</a:t>
            </a:r>
            <a:endParaRPr lang="en-GB" sz="2800" b="1" i="1" dirty="0">
              <a:solidFill>
                <a:srgbClr val="C00000"/>
              </a:solidFill>
            </a:endParaRPr>
          </a:p>
          <a:p>
            <a:r>
              <a:rPr lang="en-GB" sz="2800" i="1" dirty="0"/>
              <a:t>	</a:t>
            </a:r>
            <a:endParaRPr lang="en-US" sz="2800"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3363705"/>
            <a:ext cx="6120680" cy="3521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1415460"/>
            <a:ext cx="5472608" cy="1869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3232137"/>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p:cNvSpPr/>
          <p:nvPr/>
        </p:nvSpPr>
        <p:spPr>
          <a:xfrm>
            <a:off x="269268" y="459829"/>
            <a:ext cx="8568952" cy="1384995"/>
          </a:xfrm>
          <a:prstGeom prst="rect">
            <a:avLst/>
          </a:prstGeom>
        </p:spPr>
        <p:txBody>
          <a:bodyPr wrap="square">
            <a:spAutoFit/>
          </a:bodyPr>
          <a:lstStyle/>
          <a:p>
            <a:r>
              <a:rPr lang="en-GB" sz="2800" b="1" u="sng" dirty="0" smtClean="0"/>
              <a:t>Checking random Graphs</a:t>
            </a:r>
          </a:p>
          <a:p>
            <a:pPr algn="ctr"/>
            <a:r>
              <a:rPr lang="en-GB" sz="2800" b="1" dirty="0" smtClean="0">
                <a:solidFill>
                  <a:srgbClr val="C00000"/>
                </a:solidFill>
              </a:rPr>
              <a:t>Maximised Flow Of Graph Using Edmond-Karp Method</a:t>
            </a:r>
            <a:endParaRPr lang="en-GB" sz="2800" b="1" i="1" dirty="0">
              <a:solidFill>
                <a:srgbClr val="C00000"/>
              </a:solidFill>
            </a:endParaRPr>
          </a:p>
          <a:p>
            <a:r>
              <a:rPr lang="en-GB" sz="2800" i="1" dirty="0"/>
              <a:t>	</a:t>
            </a:r>
            <a:endParaRPr lang="en-US" sz="28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764" y="1705601"/>
            <a:ext cx="8892480" cy="4171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1844824"/>
            <a:ext cx="3384376" cy="2465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Straight Arrow Connector 2"/>
          <p:cNvCxnSpPr>
            <a:stCxn id="6" idx="3"/>
          </p:cNvCxnSpPr>
          <p:nvPr/>
        </p:nvCxnSpPr>
        <p:spPr>
          <a:xfrm>
            <a:off x="2411760" y="2528900"/>
            <a:ext cx="2664296" cy="828092"/>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161764" y="1844824"/>
            <a:ext cx="2249996" cy="136815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3300815"/>
      </p:ext>
    </p:extLst>
  </p:cSld>
  <p:clrMapOvr>
    <a:masterClrMapping/>
  </p:clrMapOvr>
  <p:transition spd="slow">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269268" y="387821"/>
            <a:ext cx="8568952" cy="1384995"/>
          </a:xfrm>
          <a:prstGeom prst="rect">
            <a:avLst/>
          </a:prstGeom>
        </p:spPr>
        <p:txBody>
          <a:bodyPr wrap="square">
            <a:spAutoFit/>
          </a:bodyPr>
          <a:lstStyle/>
          <a:p>
            <a:r>
              <a:rPr lang="en-GB" sz="2800" b="1" u="sng" dirty="0" smtClean="0"/>
              <a:t>Checking random Graphs</a:t>
            </a:r>
          </a:p>
          <a:p>
            <a:pPr algn="ctr"/>
            <a:r>
              <a:rPr lang="en-GB" sz="2800" b="1" dirty="0" smtClean="0">
                <a:solidFill>
                  <a:srgbClr val="C00000"/>
                </a:solidFill>
              </a:rPr>
              <a:t>Maximised Flow Of Graph Using Edmond-Karp Method</a:t>
            </a:r>
            <a:endParaRPr lang="en-GB" sz="2800" b="1" i="1" dirty="0">
              <a:solidFill>
                <a:srgbClr val="C00000"/>
              </a:solidFill>
            </a:endParaRPr>
          </a:p>
          <a:p>
            <a:r>
              <a:rPr lang="en-GB" sz="2800" i="1" dirty="0"/>
              <a:t>	</a:t>
            </a:r>
            <a:endParaRPr lang="en-US" sz="28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772" y="2060848"/>
            <a:ext cx="8548448" cy="3816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467544" y="4581128"/>
            <a:ext cx="1224136" cy="14401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3300815"/>
      </p:ext>
    </p:extLst>
  </p:cSld>
  <p:clrMapOvr>
    <a:masterClrMapping/>
  </p:clrMapOvr>
  <p:transition spd="slow">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269268" y="260648"/>
            <a:ext cx="8568952" cy="1815882"/>
          </a:xfrm>
          <a:prstGeom prst="rect">
            <a:avLst/>
          </a:prstGeom>
        </p:spPr>
        <p:txBody>
          <a:bodyPr wrap="square">
            <a:spAutoFit/>
          </a:bodyPr>
          <a:lstStyle/>
          <a:p>
            <a:r>
              <a:rPr lang="en-GB" sz="2800" b="1" u="sng" dirty="0" smtClean="0"/>
              <a:t>Checking random Graphs</a:t>
            </a:r>
          </a:p>
          <a:p>
            <a:pPr algn="ctr"/>
            <a:r>
              <a:rPr lang="en-GB" sz="2800" b="1" dirty="0" smtClean="0">
                <a:solidFill>
                  <a:srgbClr val="C00000"/>
                </a:solidFill>
              </a:rPr>
              <a:t>Maximised Flow Of Graph Using Edmond-Karp Method</a:t>
            </a:r>
          </a:p>
          <a:p>
            <a:pPr algn="ctr"/>
            <a:r>
              <a:rPr lang="en-GB" sz="2800" b="1" i="1" dirty="0" smtClean="0">
                <a:solidFill>
                  <a:srgbClr val="C00000"/>
                </a:solidFill>
              </a:rPr>
              <a:t>(Visualisation)</a:t>
            </a:r>
            <a:endParaRPr lang="en-GB" sz="2800" b="1" i="1" dirty="0">
              <a:solidFill>
                <a:srgbClr val="C00000"/>
              </a:solidFill>
            </a:endParaRPr>
          </a:p>
          <a:p>
            <a:r>
              <a:rPr lang="en-GB" sz="2800" i="1" dirty="0"/>
              <a:t>	</a:t>
            </a:r>
            <a:endParaRPr lang="en-US" sz="2800"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844824"/>
            <a:ext cx="6810302" cy="468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1320756"/>
      </p:ext>
    </p:ext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269268" y="260648"/>
            <a:ext cx="8568952" cy="1815882"/>
          </a:xfrm>
          <a:prstGeom prst="rect">
            <a:avLst/>
          </a:prstGeom>
        </p:spPr>
        <p:txBody>
          <a:bodyPr wrap="square">
            <a:spAutoFit/>
          </a:bodyPr>
          <a:lstStyle/>
          <a:p>
            <a:r>
              <a:rPr lang="en-GB" sz="2800" b="1" u="sng" dirty="0" smtClean="0"/>
              <a:t>Checking random Graphs</a:t>
            </a:r>
          </a:p>
          <a:p>
            <a:pPr algn="ctr"/>
            <a:r>
              <a:rPr lang="en-GB" sz="2800" b="1" dirty="0" smtClean="0">
                <a:solidFill>
                  <a:srgbClr val="C00000"/>
                </a:solidFill>
              </a:rPr>
              <a:t>Graph Info &amp; Bipartiteness Check of above example graph</a:t>
            </a:r>
            <a:endParaRPr lang="en-GB" sz="2800" b="1" i="1" dirty="0">
              <a:solidFill>
                <a:srgbClr val="C00000"/>
              </a:solidFill>
            </a:endParaRPr>
          </a:p>
          <a:p>
            <a:r>
              <a:rPr lang="en-GB" sz="2800" i="1" dirty="0"/>
              <a:t>	</a:t>
            </a:r>
            <a:endParaRPr lang="en-US" sz="28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00" y="1241251"/>
            <a:ext cx="7391400" cy="557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931921"/>
      </p:ext>
    </p:extLst>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269268" y="260648"/>
            <a:ext cx="8568952" cy="1815882"/>
          </a:xfrm>
          <a:prstGeom prst="rect">
            <a:avLst/>
          </a:prstGeom>
        </p:spPr>
        <p:txBody>
          <a:bodyPr wrap="square">
            <a:spAutoFit/>
          </a:bodyPr>
          <a:lstStyle/>
          <a:p>
            <a:r>
              <a:rPr lang="en-GB" sz="2800" b="1" u="sng" dirty="0" smtClean="0"/>
              <a:t>Checking random Graphs</a:t>
            </a:r>
          </a:p>
          <a:p>
            <a:pPr algn="ctr"/>
            <a:r>
              <a:rPr lang="en-GB" sz="2800" b="1" dirty="0" smtClean="0">
                <a:solidFill>
                  <a:srgbClr val="C00000"/>
                </a:solidFill>
              </a:rPr>
              <a:t>Graph Info &amp; Bipartiteness Check of above example graph</a:t>
            </a:r>
            <a:endParaRPr lang="en-GB" sz="2800" b="1" i="1" dirty="0">
              <a:solidFill>
                <a:srgbClr val="C00000"/>
              </a:solidFill>
            </a:endParaRPr>
          </a:p>
          <a:p>
            <a:r>
              <a:rPr lang="en-GB" sz="2800" i="1" dirty="0"/>
              <a:t>	</a:t>
            </a:r>
            <a:endParaRPr lang="en-US" sz="2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831" y="1844824"/>
            <a:ext cx="7743825" cy="455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971600" y="5877272"/>
            <a:ext cx="1872208" cy="28803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3097566"/>
      </p:ext>
    </p:extLst>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269268" y="675853"/>
            <a:ext cx="8568952" cy="1384995"/>
          </a:xfrm>
          <a:prstGeom prst="rect">
            <a:avLst/>
          </a:prstGeom>
        </p:spPr>
        <p:txBody>
          <a:bodyPr wrap="square">
            <a:spAutoFit/>
          </a:bodyPr>
          <a:lstStyle/>
          <a:p>
            <a:r>
              <a:rPr lang="en-GB" sz="2800" b="1" u="sng" dirty="0" smtClean="0"/>
              <a:t>Checking random Graphs</a:t>
            </a:r>
          </a:p>
          <a:p>
            <a:pPr algn="ctr"/>
            <a:r>
              <a:rPr lang="en-GB" sz="2800" b="1" dirty="0" smtClean="0">
                <a:solidFill>
                  <a:srgbClr val="C00000"/>
                </a:solidFill>
              </a:rPr>
              <a:t>Maximum Matching of above Input graph</a:t>
            </a:r>
            <a:endParaRPr lang="en-GB" sz="2800" b="1" dirty="0" smtClean="0">
              <a:solidFill>
                <a:srgbClr val="C00000"/>
              </a:solidFill>
            </a:endParaRPr>
          </a:p>
          <a:p>
            <a:r>
              <a:rPr lang="en-GB" sz="2800" i="1" dirty="0"/>
              <a:t>	</a:t>
            </a:r>
            <a:endParaRPr lang="en-US" sz="2800" dirty="0"/>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268" y="2553208"/>
            <a:ext cx="8568273" cy="1601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931921"/>
      </p:ext>
    </p:extLst>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269268" y="260648"/>
            <a:ext cx="8568952" cy="1815882"/>
          </a:xfrm>
          <a:prstGeom prst="rect">
            <a:avLst/>
          </a:prstGeom>
        </p:spPr>
        <p:txBody>
          <a:bodyPr wrap="square">
            <a:spAutoFit/>
          </a:bodyPr>
          <a:lstStyle/>
          <a:p>
            <a:r>
              <a:rPr lang="en-GB" sz="2800" b="1" u="sng" dirty="0" smtClean="0"/>
              <a:t>Checking random Graphs</a:t>
            </a:r>
          </a:p>
          <a:p>
            <a:pPr algn="ctr"/>
            <a:r>
              <a:rPr lang="en-GB" sz="2800" b="1" dirty="0" smtClean="0">
                <a:solidFill>
                  <a:srgbClr val="C00000"/>
                </a:solidFill>
              </a:rPr>
              <a:t>Maximum Matching of above Input graph</a:t>
            </a:r>
            <a:endParaRPr lang="en-GB" sz="2800" b="1" dirty="0" smtClean="0">
              <a:solidFill>
                <a:srgbClr val="C00000"/>
              </a:solidFill>
            </a:endParaRPr>
          </a:p>
          <a:p>
            <a:pPr algn="ctr"/>
            <a:r>
              <a:rPr lang="en-GB" sz="2800" b="1" i="1" dirty="0" smtClean="0">
                <a:solidFill>
                  <a:srgbClr val="C00000"/>
                </a:solidFill>
              </a:rPr>
              <a:t>(Visualisation)</a:t>
            </a:r>
            <a:endParaRPr lang="en-GB" sz="2800" b="1" i="1" dirty="0">
              <a:solidFill>
                <a:srgbClr val="C00000"/>
              </a:solidFill>
            </a:endParaRPr>
          </a:p>
          <a:p>
            <a:r>
              <a:rPr lang="en-GB" sz="2800" i="1" dirty="0"/>
              <a:t>	</a:t>
            </a:r>
            <a:endParaRPr lang="en-US" sz="28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506" y="1619666"/>
            <a:ext cx="7140475" cy="5121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1649775"/>
      </p:ext>
    </p:ext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1043608" y="448216"/>
            <a:ext cx="6678488" cy="892552"/>
          </a:xfrm>
          <a:prstGeom prst="rect">
            <a:avLst/>
          </a:prstGeom>
        </p:spPr>
        <p:txBody>
          <a:bodyPr wrap="square">
            <a:spAutoFit/>
          </a:bodyPr>
          <a:lstStyle/>
          <a:p>
            <a:pPr algn="ctr"/>
            <a:r>
              <a:rPr lang="en-GB" sz="2800" b="1" u="sng" dirty="0">
                <a:solidFill>
                  <a:schemeClr val="tx1">
                    <a:lumMod val="95000"/>
                    <a:lumOff val="5000"/>
                  </a:schemeClr>
                </a:solidFill>
              </a:rPr>
              <a:t>Functionalities and their Implementation:</a:t>
            </a:r>
          </a:p>
          <a:p>
            <a:pPr algn="ctr"/>
            <a:r>
              <a:rPr lang="en-GB" sz="2400" b="1" i="1" dirty="0">
                <a:solidFill>
                  <a:schemeClr val="accent6">
                    <a:lumMod val="75000"/>
                  </a:schemeClr>
                </a:solidFill>
              </a:rPr>
              <a:t>Language used: </a:t>
            </a:r>
            <a:r>
              <a:rPr lang="en-GB" sz="2400" b="1" i="1" dirty="0" smtClean="0">
                <a:solidFill>
                  <a:schemeClr val="accent6">
                    <a:lumMod val="75000"/>
                  </a:schemeClr>
                </a:solidFill>
              </a:rPr>
              <a:t> Java(via VS code)</a:t>
            </a:r>
            <a:endParaRPr lang="en-GB" sz="2400" b="1" i="1" dirty="0">
              <a:solidFill>
                <a:schemeClr val="accent6">
                  <a:lumMod val="75000"/>
                </a:schemeClr>
              </a:solidFill>
            </a:endParaRPr>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7120" y="1772816"/>
            <a:ext cx="4591463" cy="4043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7187746"/>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1331640" y="535799"/>
            <a:ext cx="6678488" cy="1508105"/>
          </a:xfrm>
          <a:prstGeom prst="rect">
            <a:avLst/>
          </a:prstGeom>
        </p:spPr>
        <p:txBody>
          <a:bodyPr wrap="square">
            <a:spAutoFit/>
          </a:bodyPr>
          <a:lstStyle/>
          <a:p>
            <a:pPr algn="ctr"/>
            <a:r>
              <a:rPr lang="en-GB" sz="3200" b="1" u="sng" dirty="0" smtClean="0">
                <a:solidFill>
                  <a:schemeClr val="tx1">
                    <a:lumMod val="95000"/>
                    <a:lumOff val="5000"/>
                  </a:schemeClr>
                </a:solidFill>
              </a:rPr>
              <a:t>Bipartite Check:</a:t>
            </a:r>
          </a:p>
          <a:p>
            <a:pPr algn="ctr"/>
            <a:r>
              <a:rPr lang="en-GB" sz="3200" b="1" u="sng" dirty="0" smtClean="0">
                <a:solidFill>
                  <a:srgbClr val="C00000"/>
                </a:solidFill>
              </a:rPr>
              <a:t>(Output: Is Bipartite)</a:t>
            </a:r>
            <a:endParaRPr lang="en-GB" sz="3200" b="1" u="sng" dirty="0">
              <a:solidFill>
                <a:srgbClr val="C00000"/>
              </a:solidFill>
            </a:endParaRPr>
          </a:p>
          <a:p>
            <a:pPr algn="ctr"/>
            <a:endParaRPr lang="en-GB" sz="2800" b="1" i="1" dirty="0">
              <a:solidFill>
                <a:schemeClr val="accent6">
                  <a:lumMod val="75000"/>
                </a:schemeClr>
              </a:solidFill>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217" y="2043904"/>
            <a:ext cx="8673449" cy="3295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230217" y="4437112"/>
            <a:ext cx="2397567"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3232137"/>
      </p:ext>
    </p:extLst>
  </p:cSld>
  <p:clrMapOvr>
    <a:masterClrMapping/>
  </p:clrMapOvr>
  <p:transition spd="slow">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1187624" y="518060"/>
            <a:ext cx="7110536" cy="892552"/>
          </a:xfrm>
          <a:prstGeom prst="rect">
            <a:avLst/>
          </a:prstGeom>
        </p:spPr>
        <p:txBody>
          <a:bodyPr wrap="square">
            <a:spAutoFit/>
          </a:bodyPr>
          <a:lstStyle/>
          <a:p>
            <a:pPr algn="ctr"/>
            <a:r>
              <a:rPr lang="en-GB" sz="2800" b="1" u="sng" dirty="0" smtClean="0">
                <a:solidFill>
                  <a:schemeClr val="tx1">
                    <a:lumMod val="95000"/>
                    <a:lumOff val="5000"/>
                  </a:schemeClr>
                </a:solidFill>
              </a:rPr>
              <a:t>Ford-Fulkerson Max. Flow:</a:t>
            </a:r>
            <a:endParaRPr lang="en-GB" sz="2800" b="1" u="sng" dirty="0">
              <a:solidFill>
                <a:schemeClr val="tx1">
                  <a:lumMod val="95000"/>
                  <a:lumOff val="5000"/>
                </a:schemeClr>
              </a:solidFill>
            </a:endParaRPr>
          </a:p>
          <a:p>
            <a:pPr algn="ctr"/>
            <a:r>
              <a:rPr lang="en-GB" sz="2400" b="1" i="1" dirty="0">
                <a:solidFill>
                  <a:schemeClr val="accent6">
                    <a:lumMod val="75000"/>
                  </a:schemeClr>
                </a:solidFill>
              </a:rPr>
              <a:t>Language used: </a:t>
            </a:r>
            <a:r>
              <a:rPr lang="en-GB" sz="2400" b="1" i="1" dirty="0" smtClean="0">
                <a:solidFill>
                  <a:schemeClr val="accent6">
                    <a:lumMod val="75000"/>
                  </a:schemeClr>
                </a:solidFill>
              </a:rPr>
              <a:t> Java(via VS code)</a:t>
            </a:r>
            <a:endParaRPr lang="en-GB" sz="2400" b="1" i="1" dirty="0">
              <a:solidFill>
                <a:schemeClr val="accent6">
                  <a:lumMod val="75000"/>
                </a:schemeClr>
              </a:solidFill>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71" y="1783804"/>
            <a:ext cx="8963025" cy="438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6663123"/>
      </p:ext>
    </p:extLst>
  </p:cSld>
  <p:clrMapOvr>
    <a:masterClrMapping/>
  </p:clrMapOvr>
  <p:transition spd="slow">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1115616" y="169476"/>
            <a:ext cx="6678488" cy="523220"/>
          </a:xfrm>
          <a:prstGeom prst="rect">
            <a:avLst/>
          </a:prstGeom>
        </p:spPr>
        <p:txBody>
          <a:bodyPr wrap="square">
            <a:spAutoFit/>
          </a:bodyPr>
          <a:lstStyle/>
          <a:p>
            <a:r>
              <a:rPr lang="en-GB" sz="2800" b="1" u="sng" dirty="0" smtClean="0">
                <a:solidFill>
                  <a:schemeClr val="tx1">
                    <a:lumMod val="95000"/>
                    <a:lumOff val="5000"/>
                  </a:schemeClr>
                </a:solidFill>
              </a:rPr>
              <a:t>Bipartite Maximum Matching:</a:t>
            </a:r>
            <a:endParaRPr lang="en-GB" sz="2800" b="1" u="sng" dirty="0">
              <a:solidFill>
                <a:schemeClr val="tx1">
                  <a:lumMod val="95000"/>
                  <a:lumOff val="5000"/>
                </a:schemeClr>
              </a:solidFill>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395" y="857456"/>
            <a:ext cx="7209420" cy="5707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7187746"/>
      </p:ext>
    </p:extLst>
  </p:cSld>
  <p:clrMapOvr>
    <a:masterClrMapping/>
  </p:clrMapOvr>
  <p:transition spd="slow">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lowchart: Delay 41"/>
          <p:cNvSpPr/>
          <p:nvPr/>
        </p:nvSpPr>
        <p:spPr>
          <a:xfrm>
            <a:off x="-36512" y="2907"/>
            <a:ext cx="1240897" cy="6858000"/>
          </a:xfrm>
          <a:prstGeom prst="flowChartDelay">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1204385" y="1412776"/>
            <a:ext cx="7947756" cy="4893647"/>
          </a:xfrm>
          <a:prstGeom prst="rect">
            <a:avLst/>
          </a:prstGeom>
        </p:spPr>
        <p:txBody>
          <a:bodyPr wrap="square">
            <a:spAutoFit/>
          </a:bodyPr>
          <a:lstStyle/>
          <a:p>
            <a:r>
              <a:rPr lang="en-GB" sz="2400" b="1" dirty="0"/>
              <a:t>Runtime Complexity:</a:t>
            </a:r>
            <a:endParaRPr lang="en-GB" sz="2400" dirty="0"/>
          </a:p>
          <a:p>
            <a:pPr lvl="1"/>
            <a:r>
              <a:rPr lang="en-GB" sz="2400" b="1" dirty="0"/>
              <a:t>Ford-Fulkerson:</a:t>
            </a:r>
            <a:r>
              <a:rPr lang="en-GB" sz="2400" dirty="0"/>
              <a:t> The runtime complexity is not guaranteed to be polynomial in the worst case because of its dependence on the choice of augmenting paths.</a:t>
            </a:r>
          </a:p>
          <a:p>
            <a:pPr lvl="1"/>
            <a:r>
              <a:rPr lang="en-GB" sz="2400" b="1" dirty="0"/>
              <a:t>Edmonds-Karp:</a:t>
            </a:r>
            <a:r>
              <a:rPr lang="en-GB" sz="2400" dirty="0"/>
              <a:t> Guarantees a polynomial runtime of O(VE^2) due to its consistent choice of augmenting paths.</a:t>
            </a:r>
          </a:p>
          <a:p>
            <a:r>
              <a:rPr lang="en-GB" sz="2400" b="1" dirty="0"/>
              <a:t>Guaranteed Termination:</a:t>
            </a:r>
            <a:endParaRPr lang="en-GB" sz="2400" dirty="0"/>
          </a:p>
          <a:p>
            <a:pPr lvl="1"/>
            <a:r>
              <a:rPr lang="en-GB" sz="2400" b="1" dirty="0"/>
              <a:t>Ford-Fulkerson:</a:t>
            </a:r>
            <a:r>
              <a:rPr lang="en-GB" sz="2400" dirty="0"/>
              <a:t> It may not terminate if improper augmenting paths are chosen, leading to the possibility of an infinite loop.</a:t>
            </a:r>
          </a:p>
          <a:p>
            <a:pPr lvl="1"/>
            <a:r>
              <a:rPr lang="en-GB" sz="2400" b="1" dirty="0"/>
              <a:t>Edmonds-Karp:</a:t>
            </a:r>
            <a:r>
              <a:rPr lang="en-GB" sz="2400" dirty="0"/>
              <a:t> It always terminates because it chooses augmenting paths based on the shortest path criterion, ensuring convergence.</a:t>
            </a:r>
          </a:p>
        </p:txBody>
      </p:sp>
      <p:sp>
        <p:nvSpPr>
          <p:cNvPr id="6" name="Rectangle 5"/>
          <p:cNvSpPr/>
          <p:nvPr/>
        </p:nvSpPr>
        <p:spPr>
          <a:xfrm>
            <a:off x="1289831" y="548679"/>
            <a:ext cx="7776864" cy="584775"/>
          </a:xfrm>
          <a:prstGeom prst="rect">
            <a:avLst/>
          </a:prstGeom>
        </p:spPr>
        <p:txBody>
          <a:bodyPr wrap="square">
            <a:spAutoFit/>
          </a:bodyPr>
          <a:lstStyle/>
          <a:p>
            <a:r>
              <a:rPr lang="en-GB" sz="3200" b="1" u="sng" dirty="0" smtClean="0">
                <a:solidFill>
                  <a:schemeClr val="tx1">
                    <a:lumMod val="95000"/>
                    <a:lumOff val="5000"/>
                  </a:schemeClr>
                </a:solidFill>
              </a:rPr>
              <a:t>Ford-Fulkerson VS Edmond Karp Max Flow</a:t>
            </a:r>
            <a:endParaRPr lang="en-GB" sz="3200" b="1" u="sng" dirty="0">
              <a:solidFill>
                <a:schemeClr val="tx1">
                  <a:lumMod val="95000"/>
                  <a:lumOff val="5000"/>
                </a:schemeClr>
              </a:solidFill>
            </a:endParaRPr>
          </a:p>
        </p:txBody>
      </p:sp>
    </p:spTree>
    <p:extLst>
      <p:ext uri="{BB962C8B-B14F-4D97-AF65-F5344CB8AC3E}">
        <p14:creationId xmlns:p14="http://schemas.microsoft.com/office/powerpoint/2010/main" val="3572439782"/>
      </p:ext>
    </p:extLst>
  </p:cSld>
  <p:clrMapOvr>
    <a:masterClrMapping/>
  </p:clrMapOvr>
  <p:transition spd="slow">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42" name="Flowchart: Delay 41"/>
          <p:cNvSpPr/>
          <p:nvPr/>
        </p:nvSpPr>
        <p:spPr>
          <a:xfrm>
            <a:off x="-36512" y="2907"/>
            <a:ext cx="1674440" cy="6858000"/>
          </a:xfrm>
          <a:prstGeom prst="flowChartDelay">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1637927" y="625996"/>
            <a:ext cx="7249935" cy="5632311"/>
          </a:xfrm>
          <a:prstGeom prst="rect">
            <a:avLst/>
          </a:prstGeom>
        </p:spPr>
        <p:txBody>
          <a:bodyPr wrap="square">
            <a:spAutoFit/>
          </a:bodyPr>
          <a:lstStyle/>
          <a:p>
            <a:r>
              <a:rPr lang="en-GB" sz="3600" dirty="0" smtClean="0">
                <a:solidFill>
                  <a:srgbClr val="C00000"/>
                </a:solidFill>
              </a:rPr>
              <a:t>Important Note:</a:t>
            </a:r>
          </a:p>
          <a:p>
            <a:endParaRPr lang="en-GB" sz="3600" dirty="0" smtClean="0">
              <a:solidFill>
                <a:srgbClr val="C00000"/>
              </a:solidFill>
            </a:endParaRPr>
          </a:p>
          <a:p>
            <a:r>
              <a:rPr lang="en-GB" sz="3600" dirty="0" smtClean="0">
                <a:solidFill>
                  <a:srgbClr val="C00000"/>
                </a:solidFill>
              </a:rPr>
              <a:t>Ford-Fulkerson</a:t>
            </a:r>
            <a:r>
              <a:rPr lang="en-GB" sz="3600" dirty="0" smtClean="0"/>
              <a:t> </a:t>
            </a:r>
            <a:r>
              <a:rPr lang="en-GB" sz="3600" dirty="0"/>
              <a:t>is a general method for computing the maximum flow in a flow network, while the </a:t>
            </a:r>
            <a:r>
              <a:rPr lang="en-GB" sz="3600" dirty="0">
                <a:solidFill>
                  <a:srgbClr val="C00000"/>
                </a:solidFill>
              </a:rPr>
              <a:t>Edmonds-Karp algorithm </a:t>
            </a:r>
            <a:r>
              <a:rPr lang="en-GB" sz="3600" dirty="0"/>
              <a:t>is a specific implementation of the Ford-Fulkerson method that uses Breadth-First Search (BFS) to find augmenting paths</a:t>
            </a:r>
            <a:r>
              <a:rPr lang="en-GB" sz="3600" dirty="0" smtClean="0"/>
              <a:t>.</a:t>
            </a:r>
            <a:endParaRPr lang="en-GB" sz="3200" b="1" i="1" dirty="0">
              <a:solidFill>
                <a:schemeClr val="accent6">
                  <a:lumMod val="75000"/>
                </a:schemeClr>
              </a:solidFill>
            </a:endParaRPr>
          </a:p>
        </p:txBody>
      </p:sp>
    </p:spTree>
    <p:extLst>
      <p:ext uri="{BB962C8B-B14F-4D97-AF65-F5344CB8AC3E}">
        <p14:creationId xmlns:p14="http://schemas.microsoft.com/office/powerpoint/2010/main" val="2657154699"/>
      </p:ext>
    </p:extLst>
  </p:cSld>
  <p:clrMapOvr>
    <a:masterClrMapping/>
  </p:clrMapOvr>
  <p:transition spd="slow">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1081"/>
            <a:ext cx="9180512" cy="68864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600" b="1" u="sng" dirty="0">
                <a:solidFill>
                  <a:schemeClr val="accent1">
                    <a:lumMod val="20000"/>
                    <a:lumOff val="80000"/>
                  </a:schemeClr>
                </a:solidFill>
                <a:latin typeface="Javanese Text" pitchFamily="2" charset="0"/>
              </a:rPr>
              <a:t>5. Results:</a:t>
            </a:r>
          </a:p>
          <a:p>
            <a:endParaRPr lang="en-GB" dirty="0" smtClean="0">
              <a:solidFill>
                <a:schemeClr val="tx1"/>
              </a:solidFill>
            </a:endParaRPr>
          </a:p>
          <a:p>
            <a:r>
              <a:rPr lang="en-GB" sz="2400" dirty="0">
                <a:solidFill>
                  <a:schemeClr val="bg1"/>
                </a:solidFill>
                <a:latin typeface="Javanese Text" pitchFamily="2" charset="0"/>
                <a:ea typeface="+mj-ea"/>
                <a:cs typeface="+mj-cs"/>
              </a:rPr>
              <a:t>The algorithm outputs the maximum flow value and the flow configuration on each edge in the network.</a:t>
            </a:r>
          </a:p>
          <a:p>
            <a:r>
              <a:rPr lang="en-GB" sz="2400" dirty="0">
                <a:solidFill>
                  <a:schemeClr val="bg1"/>
                </a:solidFill>
                <a:latin typeface="Javanese Text" pitchFamily="2" charset="0"/>
                <a:ea typeface="+mj-ea"/>
                <a:cs typeface="+mj-cs"/>
              </a:rPr>
              <a:t>The </a:t>
            </a:r>
            <a:r>
              <a:rPr lang="en-GB" sz="2400" dirty="0">
                <a:solidFill>
                  <a:srgbClr val="C00000"/>
                </a:solidFill>
                <a:latin typeface="Javanese Text" pitchFamily="2" charset="0"/>
                <a:ea typeface="+mj-ea"/>
                <a:cs typeface="+mj-cs"/>
              </a:rPr>
              <a:t>Edmonds-Karp algorithm </a:t>
            </a:r>
            <a:r>
              <a:rPr lang="en-GB" sz="2400" dirty="0">
                <a:solidFill>
                  <a:schemeClr val="bg1"/>
                </a:solidFill>
                <a:latin typeface="Javanese Text" pitchFamily="2" charset="0"/>
                <a:ea typeface="+mj-ea"/>
                <a:cs typeface="+mj-cs"/>
              </a:rPr>
              <a:t>guarantees an efficient solution to the maximum flow problem, and its time complexity is  </a:t>
            </a:r>
            <a:r>
              <a:rPr lang="en-GB" sz="2400" dirty="0" smtClean="0">
                <a:solidFill>
                  <a:srgbClr val="C00000"/>
                </a:solidFill>
                <a:latin typeface="Javanese Text" pitchFamily="2" charset="0"/>
                <a:ea typeface="+mj-ea"/>
                <a:cs typeface="+mj-cs"/>
              </a:rPr>
              <a:t>O(VE^2</a:t>
            </a:r>
            <a:r>
              <a:rPr lang="en-GB" sz="2400" dirty="0">
                <a:solidFill>
                  <a:srgbClr val="C00000"/>
                </a:solidFill>
                <a:latin typeface="Javanese Text" pitchFamily="2" charset="0"/>
                <a:ea typeface="+mj-ea"/>
                <a:cs typeface="+mj-cs"/>
              </a:rPr>
              <a:t>)</a:t>
            </a:r>
            <a:r>
              <a:rPr lang="en-GB" sz="2400" dirty="0">
                <a:solidFill>
                  <a:schemeClr val="bg1"/>
                </a:solidFill>
                <a:latin typeface="Javanese Text" pitchFamily="2" charset="0"/>
                <a:ea typeface="+mj-ea"/>
                <a:cs typeface="+mj-cs"/>
              </a:rPr>
              <a:t>, where  V is the number of nodes and  E is the number of edges in the graph.</a:t>
            </a:r>
          </a:p>
          <a:p>
            <a:endParaRPr lang="en-GB" sz="3600" b="1" u="sng" dirty="0">
              <a:solidFill>
                <a:schemeClr val="accent1">
                  <a:lumMod val="20000"/>
                  <a:lumOff val="80000"/>
                </a:schemeClr>
              </a:solidFill>
              <a:latin typeface="Javanese Text" pitchFamily="2" charset="0"/>
            </a:endParaRPr>
          </a:p>
          <a:p>
            <a:r>
              <a:rPr lang="en-GB" sz="3600" b="1" u="sng" dirty="0">
                <a:solidFill>
                  <a:schemeClr val="accent1">
                    <a:lumMod val="20000"/>
                    <a:lumOff val="80000"/>
                  </a:schemeClr>
                </a:solidFill>
                <a:latin typeface="Javanese Text" pitchFamily="2" charset="0"/>
              </a:rPr>
              <a:t>6. Conclusion:</a:t>
            </a:r>
          </a:p>
          <a:p>
            <a:endParaRPr lang="en-GB" sz="2400" dirty="0">
              <a:solidFill>
                <a:schemeClr val="tx1"/>
              </a:solidFill>
              <a:latin typeface="Javanese Text" pitchFamily="2" charset="0"/>
              <a:ea typeface="+mj-ea"/>
              <a:cs typeface="+mj-cs"/>
            </a:endParaRPr>
          </a:p>
          <a:p>
            <a:r>
              <a:rPr lang="en-GB" sz="2400" dirty="0">
                <a:solidFill>
                  <a:schemeClr val="bg1"/>
                </a:solidFill>
                <a:latin typeface="Javanese Text" pitchFamily="2" charset="0"/>
                <a:ea typeface="+mj-ea"/>
                <a:cs typeface="+mj-cs"/>
              </a:rPr>
              <a:t>The </a:t>
            </a:r>
            <a:r>
              <a:rPr lang="en-GB" sz="2400" dirty="0">
                <a:solidFill>
                  <a:srgbClr val="C00000"/>
                </a:solidFill>
                <a:latin typeface="Javanese Text" pitchFamily="2" charset="0"/>
                <a:ea typeface="+mj-ea"/>
                <a:cs typeface="+mj-cs"/>
              </a:rPr>
              <a:t>Edmonds-Karp algorithm </a:t>
            </a:r>
            <a:r>
              <a:rPr lang="en-GB" sz="2400" dirty="0">
                <a:solidFill>
                  <a:schemeClr val="bg1"/>
                </a:solidFill>
                <a:latin typeface="Javanese Text" pitchFamily="2" charset="0"/>
                <a:ea typeface="+mj-ea"/>
                <a:cs typeface="+mj-cs"/>
              </a:rPr>
              <a:t>provides a mathematical approach to solving complex optimization problems, helping to make informed decisions in real-life applications where the efficient flow of resources or information is </a:t>
            </a:r>
            <a:r>
              <a:rPr lang="en-GB" sz="2400" dirty="0" smtClean="0">
                <a:solidFill>
                  <a:schemeClr val="bg1"/>
                </a:solidFill>
                <a:latin typeface="Javanese Text" pitchFamily="2" charset="0"/>
                <a:ea typeface="+mj-ea"/>
                <a:cs typeface="+mj-cs"/>
              </a:rPr>
              <a:t>crucial.</a:t>
            </a:r>
            <a:endParaRPr lang="en-US" sz="2400" dirty="0">
              <a:solidFill>
                <a:schemeClr val="tx1"/>
              </a:solidFill>
              <a:latin typeface="Javanese Text" pitchFamily="2" charset="0"/>
              <a:ea typeface="+mj-ea"/>
              <a:cs typeface="+mj-cs"/>
            </a:endParaRPr>
          </a:p>
        </p:txBody>
      </p:sp>
    </p:spTree>
    <p:extLst>
      <p:ext uri="{BB962C8B-B14F-4D97-AF65-F5344CB8AC3E}">
        <p14:creationId xmlns:p14="http://schemas.microsoft.com/office/powerpoint/2010/main" val="367814857"/>
      </p:ext>
    </p:extLst>
  </p:cSld>
  <p:clrMapOvr>
    <a:masterClrMapping/>
  </p:clrMapOvr>
  <p:transition spd="slow">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36512" y="0"/>
            <a:ext cx="9180512" cy="68864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GB" sz="3600" b="1" u="sng" dirty="0" smtClean="0">
              <a:solidFill>
                <a:schemeClr val="tx1"/>
              </a:solidFill>
              <a:latin typeface="Javanese Text" pitchFamily="2" charset="0"/>
            </a:endParaRPr>
          </a:p>
          <a:p>
            <a:pPr algn="r"/>
            <a:endParaRPr lang="en-GB" sz="3600" b="1" u="sng" dirty="0">
              <a:solidFill>
                <a:schemeClr val="tx1"/>
              </a:solidFill>
              <a:latin typeface="Javanese Text" pitchFamily="2" charset="0"/>
            </a:endParaRPr>
          </a:p>
          <a:p>
            <a:pPr algn="r"/>
            <a:endParaRPr lang="en-GB" sz="3600" b="1" u="sng" dirty="0" smtClean="0">
              <a:solidFill>
                <a:schemeClr val="tx1"/>
              </a:solidFill>
              <a:latin typeface="Javanese Text" pitchFamily="2" charset="0"/>
            </a:endParaRPr>
          </a:p>
          <a:p>
            <a:pPr algn="r"/>
            <a:endParaRPr lang="en-GB" sz="3600" b="1" u="sng" dirty="0">
              <a:solidFill>
                <a:schemeClr val="tx1"/>
              </a:solidFill>
              <a:latin typeface="Javanese Text" pitchFamily="2" charset="0"/>
            </a:endParaRPr>
          </a:p>
          <a:p>
            <a:pPr algn="r"/>
            <a:endParaRPr lang="en-GB" sz="3600" b="1" u="sng" dirty="0" smtClean="0">
              <a:solidFill>
                <a:schemeClr val="tx1"/>
              </a:solidFill>
              <a:latin typeface="Javanese Text" pitchFamily="2" charset="0"/>
            </a:endParaRPr>
          </a:p>
          <a:p>
            <a:pPr algn="r"/>
            <a:endParaRPr lang="en-GB" sz="3600" b="1" u="sng" dirty="0">
              <a:solidFill>
                <a:schemeClr val="tx1"/>
              </a:solidFill>
              <a:latin typeface="Javanese Text" pitchFamily="2" charset="0"/>
            </a:endParaRPr>
          </a:p>
          <a:p>
            <a:pPr algn="r"/>
            <a:endParaRPr lang="en-GB" sz="3600" b="1" u="sng" dirty="0" smtClean="0">
              <a:solidFill>
                <a:schemeClr val="tx1"/>
              </a:solidFill>
              <a:latin typeface="Javanese Text" pitchFamily="2" charset="0"/>
            </a:endParaRPr>
          </a:p>
          <a:p>
            <a:pPr algn="r"/>
            <a:endParaRPr lang="en-GB" sz="3600" b="1" u="sng" dirty="0">
              <a:solidFill>
                <a:schemeClr val="tx1"/>
              </a:solidFill>
              <a:latin typeface="Javanese Text" pitchFamily="2" charset="0"/>
            </a:endParaRPr>
          </a:p>
          <a:p>
            <a:pPr algn="r"/>
            <a:endParaRPr lang="en-GB" sz="3600" b="1" u="sng" dirty="0" smtClean="0">
              <a:solidFill>
                <a:schemeClr val="tx1"/>
              </a:solidFill>
              <a:latin typeface="Javanese Text" pitchFamily="2" charset="0"/>
            </a:endParaRPr>
          </a:p>
          <a:p>
            <a:pPr algn="r"/>
            <a:endParaRPr lang="en-GB" sz="3600" b="1" u="sng" dirty="0">
              <a:solidFill>
                <a:schemeClr val="tx1"/>
              </a:solidFill>
              <a:latin typeface="Javanese Text" pitchFamily="2" charset="0"/>
            </a:endParaRPr>
          </a:p>
          <a:p>
            <a:pPr algn="r"/>
            <a:endParaRPr lang="en-GB" sz="3600" b="1" u="sng" dirty="0" smtClean="0">
              <a:solidFill>
                <a:schemeClr val="tx1"/>
              </a:solidFill>
              <a:latin typeface="Javanese Text" pitchFamily="2" charset="0"/>
            </a:endParaRPr>
          </a:p>
          <a:p>
            <a:pPr algn="r"/>
            <a:r>
              <a:rPr lang="en-GB" sz="6000" b="1" dirty="0" smtClean="0">
                <a:solidFill>
                  <a:schemeClr val="bg1"/>
                </a:solidFill>
                <a:latin typeface="Javanese Text" pitchFamily="2" charset="0"/>
              </a:rPr>
              <a:t>The End.</a:t>
            </a:r>
            <a:endParaRPr lang="en-US" sz="4400" dirty="0">
              <a:solidFill>
                <a:schemeClr val="bg1"/>
              </a:solidFill>
              <a:latin typeface="Javanese Text" pitchFamily="2" charset="0"/>
              <a:ea typeface="+mj-ea"/>
              <a:cs typeface="+mj-cs"/>
            </a:endParaRPr>
          </a:p>
        </p:txBody>
      </p:sp>
    </p:spTree>
    <p:extLst>
      <p:ext uri="{BB962C8B-B14F-4D97-AF65-F5344CB8AC3E}">
        <p14:creationId xmlns:p14="http://schemas.microsoft.com/office/powerpoint/2010/main" val="2391007530"/>
      </p:ext>
    </p:extLst>
  </p:cSld>
  <p:clrMapOvr>
    <a:masterClrMapping/>
  </p:clrMapOvr>
  <p:transition spd="slow">
    <p:wip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1039</TotalTime>
  <Words>866</Words>
  <Application>Microsoft Office PowerPoint</Application>
  <PresentationFormat>On-screen Show (4:3)</PresentationFormat>
  <Paragraphs>116</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GRAPH THEORY  PROJECT 2023</vt:lpstr>
      <vt:lpstr> Instructor: Dr. Nazish Kanwal  Project Title:  Bi-Graverse  Project Contributors: Fizza Rashid 21K-3390 Sana Khalid 21K-3421</vt:lpstr>
      <vt:lpstr>Content: 1. Introduction 2. Overview 3. Problem Statement 4. Methodology (Implementation and Testing) 5. Results 6. Conclusion  </vt:lpstr>
      <vt:lpstr>1. 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fizza rashid</dc:creator>
  <cp:lastModifiedBy>fizza rashid</cp:lastModifiedBy>
  <cp:revision>40</cp:revision>
  <dcterms:created xsi:type="dcterms:W3CDTF">2023-11-23T16:15:54Z</dcterms:created>
  <dcterms:modified xsi:type="dcterms:W3CDTF">2023-12-01T15:55:48Z</dcterms:modified>
</cp:coreProperties>
</file>